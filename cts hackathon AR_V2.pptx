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1" r:id="rId1"/>
  </p:sldMasterIdLst>
  <p:notesMasterIdLst>
    <p:notesMasterId r:id="rId2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Untitled Section" id="{FF945D10-9936-4899-998B-569C0795B68E}">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Lst>
        </p14:section>
      </p14:sectionLst>
    </p:ex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995" autoAdjust="0"/>
    <p:restoredTop sz="94660"/>
  </p:normalViewPr>
  <p:slideViewPr>
    <p:cSldViewPr snapToGrid="0">
      <p:cViewPr varScale="1">
        <p:scale>
          <a:sx n="65" d="100"/>
          <a:sy n="65" d="100"/>
        </p:scale>
        <p:origin x="-696" y="-6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A62C96-D64A-4F39-892A-1CD49AB716F8}" type="datetimeFigureOut">
              <a:rPr lang="en-IN" smtClean="0"/>
              <a:pPr/>
              <a:t>11-04-2026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91BD98-95EF-4F75-9CB3-D1E7376BD56D}" type="slidenum">
              <a:rPr lang="en-IN" smtClean="0"/>
              <a:pPr/>
              <a:t>‹#›</a:t>
            </a:fld>
            <a:endParaRPr lang="en-IN"/>
          </a:p>
        </p:txBody>
      </p:sp>
    </p:spTree>
    <p:extLst>
      <p:ext uri="{BB962C8B-B14F-4D97-AF65-F5344CB8AC3E}">
        <p14:creationId xmlns:p14="http://schemas.microsoft.com/office/powerpoint/2010/main" xmlns="" val="3952955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91BD98-95EF-4F75-9CB3-D1E7376BD56D}" type="slidenum">
              <a:rPr lang="en-IN" smtClean="0"/>
              <a:pPr/>
              <a:t>4</a:t>
            </a:fld>
            <a:endParaRPr lang="en-IN"/>
          </a:p>
        </p:txBody>
      </p:sp>
    </p:spTree>
    <p:extLst>
      <p:ext uri="{BB962C8B-B14F-4D97-AF65-F5344CB8AC3E}">
        <p14:creationId xmlns:p14="http://schemas.microsoft.com/office/powerpoint/2010/main" xmlns="" val="3158793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6D0EC8D-F515-4A1F-B151-0419C88397F8}" type="datetimeFigureOut">
              <a:rPr lang="en-IN" smtClean="0"/>
              <a:pPr/>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B0DB86-ADA7-425D-AD94-42E66EBDE800}" type="slidenum">
              <a:rPr lang="en-IN" smtClean="0"/>
              <a:pPr/>
              <a:t>‹#›</a:t>
            </a:fld>
            <a:endParaRPr lang="en-IN"/>
          </a:p>
        </p:txBody>
      </p:sp>
    </p:spTree>
    <p:extLst>
      <p:ext uri="{BB962C8B-B14F-4D97-AF65-F5344CB8AC3E}">
        <p14:creationId xmlns:p14="http://schemas.microsoft.com/office/powerpoint/2010/main" xmlns="" val="3446322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D0EC8D-F515-4A1F-B151-0419C88397F8}" type="datetimeFigureOut">
              <a:rPr lang="en-IN" smtClean="0"/>
              <a:pPr/>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B0DB86-ADA7-425D-AD94-42E66EBDE800}" type="slidenum">
              <a:rPr lang="en-IN" smtClean="0"/>
              <a:pPr/>
              <a:t>‹#›</a:t>
            </a:fld>
            <a:endParaRPr lang="en-IN"/>
          </a:p>
        </p:txBody>
      </p:sp>
    </p:spTree>
    <p:extLst>
      <p:ext uri="{BB962C8B-B14F-4D97-AF65-F5344CB8AC3E}">
        <p14:creationId xmlns:p14="http://schemas.microsoft.com/office/powerpoint/2010/main" xmlns="" val="1963269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D0EC8D-F515-4A1F-B151-0419C88397F8}" type="datetimeFigureOut">
              <a:rPr lang="en-IN" smtClean="0"/>
              <a:pPr/>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B0DB86-ADA7-425D-AD94-42E66EBDE800}" type="slidenum">
              <a:rPr lang="en-IN" smtClean="0"/>
              <a:pPr/>
              <a:t>‹#›</a:t>
            </a:fld>
            <a:endParaRPr lang="en-IN"/>
          </a:p>
        </p:txBody>
      </p:sp>
    </p:spTree>
    <p:extLst>
      <p:ext uri="{BB962C8B-B14F-4D97-AF65-F5344CB8AC3E}">
        <p14:creationId xmlns:p14="http://schemas.microsoft.com/office/powerpoint/2010/main" xmlns="" val="3336875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D0EC8D-F515-4A1F-B151-0419C88397F8}" type="datetimeFigureOut">
              <a:rPr lang="en-IN" smtClean="0"/>
              <a:pPr/>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B0DB86-ADA7-425D-AD94-42E66EBDE800}" type="slidenum">
              <a:rPr lang="en-IN" smtClean="0"/>
              <a:pPr/>
              <a:t>‹#›</a:t>
            </a:fld>
            <a:endParaRPr lang="en-IN"/>
          </a:p>
        </p:txBody>
      </p:sp>
    </p:spTree>
    <p:extLst>
      <p:ext uri="{BB962C8B-B14F-4D97-AF65-F5344CB8AC3E}">
        <p14:creationId xmlns:p14="http://schemas.microsoft.com/office/powerpoint/2010/main" xmlns="" val="1829119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6D0EC8D-F515-4A1F-B151-0419C88397F8}" type="datetimeFigureOut">
              <a:rPr lang="en-IN" smtClean="0"/>
              <a:pPr/>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8B0DB86-ADA7-425D-AD94-42E66EBDE800}" type="slidenum">
              <a:rPr lang="en-IN" smtClean="0"/>
              <a:pPr/>
              <a:t>‹#›</a:t>
            </a:fld>
            <a:endParaRPr lang="en-IN"/>
          </a:p>
        </p:txBody>
      </p:sp>
    </p:spTree>
    <p:extLst>
      <p:ext uri="{BB962C8B-B14F-4D97-AF65-F5344CB8AC3E}">
        <p14:creationId xmlns:p14="http://schemas.microsoft.com/office/powerpoint/2010/main" xmlns="" val="174472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D0EC8D-F515-4A1F-B151-0419C88397F8}" type="datetimeFigureOut">
              <a:rPr lang="en-IN" smtClean="0"/>
              <a:pPr/>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8B0DB86-ADA7-425D-AD94-42E66EBDE800}" type="slidenum">
              <a:rPr lang="en-IN" smtClean="0"/>
              <a:pPr/>
              <a:t>‹#›</a:t>
            </a:fld>
            <a:endParaRPr lang="en-IN"/>
          </a:p>
        </p:txBody>
      </p:sp>
    </p:spTree>
    <p:extLst>
      <p:ext uri="{BB962C8B-B14F-4D97-AF65-F5344CB8AC3E}">
        <p14:creationId xmlns:p14="http://schemas.microsoft.com/office/powerpoint/2010/main" xmlns="" val="2559961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D0EC8D-F515-4A1F-B151-0419C88397F8}" type="datetimeFigureOut">
              <a:rPr lang="en-IN" smtClean="0"/>
              <a:pPr/>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8B0DB86-ADA7-425D-AD94-42E66EBDE800}" type="slidenum">
              <a:rPr lang="en-IN" smtClean="0"/>
              <a:pPr/>
              <a:t>‹#›</a:t>
            </a:fld>
            <a:endParaRPr lang="en-IN"/>
          </a:p>
        </p:txBody>
      </p:sp>
    </p:spTree>
    <p:extLst>
      <p:ext uri="{BB962C8B-B14F-4D97-AF65-F5344CB8AC3E}">
        <p14:creationId xmlns:p14="http://schemas.microsoft.com/office/powerpoint/2010/main" xmlns="" val="3724292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D0EC8D-F515-4A1F-B151-0419C88397F8}" type="datetimeFigureOut">
              <a:rPr lang="en-IN" smtClean="0"/>
              <a:pPr/>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B0DB86-ADA7-425D-AD94-42E66EBDE800}" type="slidenum">
              <a:rPr lang="en-IN" smtClean="0"/>
              <a:pPr/>
              <a:t>‹#›</a:t>
            </a:fld>
            <a:endParaRPr lang="en-IN"/>
          </a:p>
        </p:txBody>
      </p:sp>
    </p:spTree>
    <p:extLst>
      <p:ext uri="{BB962C8B-B14F-4D97-AF65-F5344CB8AC3E}">
        <p14:creationId xmlns:p14="http://schemas.microsoft.com/office/powerpoint/2010/main" xmlns="" val="3964570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D0EC8D-F515-4A1F-B151-0419C88397F8}" type="datetimeFigureOut">
              <a:rPr lang="en-IN" smtClean="0"/>
              <a:pPr/>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B0DB86-ADA7-425D-AD94-42E66EBDE800}" type="slidenum">
              <a:rPr lang="en-IN" smtClean="0"/>
              <a:pPr/>
              <a:t>‹#›</a:t>
            </a:fld>
            <a:endParaRPr lang="en-IN"/>
          </a:p>
        </p:txBody>
      </p:sp>
    </p:spTree>
    <p:extLst>
      <p:ext uri="{BB962C8B-B14F-4D97-AF65-F5344CB8AC3E}">
        <p14:creationId xmlns:p14="http://schemas.microsoft.com/office/powerpoint/2010/main" xmlns="" val="3942579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D0EC8D-F515-4A1F-B151-0419C88397F8}" type="datetimeFigureOut">
              <a:rPr lang="en-IN" smtClean="0"/>
              <a:pPr/>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B0DB86-ADA7-425D-AD94-42E66EBDE800}" type="slidenum">
              <a:rPr lang="en-IN" smtClean="0"/>
              <a:pPr/>
              <a:t>‹#›</a:t>
            </a:fld>
            <a:endParaRPr lang="en-IN"/>
          </a:p>
        </p:txBody>
      </p:sp>
    </p:spTree>
    <p:extLst>
      <p:ext uri="{BB962C8B-B14F-4D97-AF65-F5344CB8AC3E}">
        <p14:creationId xmlns:p14="http://schemas.microsoft.com/office/powerpoint/2010/main" xmlns="" val="1336903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D0EC8D-F515-4A1F-B151-0419C88397F8}" type="datetimeFigureOut">
              <a:rPr lang="en-IN" smtClean="0"/>
              <a:pPr/>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B0DB86-ADA7-425D-AD94-42E66EBDE800}" type="slidenum">
              <a:rPr lang="en-IN" smtClean="0"/>
              <a:pPr/>
              <a:t>‹#›</a:t>
            </a:fld>
            <a:endParaRPr lang="en-IN"/>
          </a:p>
        </p:txBody>
      </p:sp>
    </p:spTree>
    <p:extLst>
      <p:ext uri="{BB962C8B-B14F-4D97-AF65-F5344CB8AC3E}">
        <p14:creationId xmlns:p14="http://schemas.microsoft.com/office/powerpoint/2010/main" xmlns="" val="2700120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D0EC8D-F515-4A1F-B151-0419C88397F8}" type="datetimeFigureOut">
              <a:rPr lang="en-IN" smtClean="0"/>
              <a:pPr/>
              <a:t>11-04-2026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B0DB86-ADA7-425D-AD94-42E66EBDE800}" type="slidenum">
              <a:rPr lang="en-IN" smtClean="0"/>
              <a:pPr/>
              <a:t>‹#›</a:t>
            </a:fld>
            <a:endParaRPr lang="en-IN"/>
          </a:p>
        </p:txBody>
      </p:sp>
    </p:spTree>
    <p:extLst>
      <p:ext uri="{BB962C8B-B14F-4D97-AF65-F5344CB8AC3E}">
        <p14:creationId xmlns:p14="http://schemas.microsoft.com/office/powerpoint/2010/main" xmlns="" val="2624134119"/>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D42EC614-B059-90C8-08DD-4EEC12177FBA}"/>
              </a:ext>
            </a:extLst>
          </p:cNvPr>
          <p:cNvSpPr txBox="1"/>
          <p:nvPr/>
        </p:nvSpPr>
        <p:spPr>
          <a:xfrm>
            <a:off x="2105406" y="278999"/>
            <a:ext cx="7450074" cy="2062103"/>
          </a:xfrm>
          <a:prstGeom prst="rect">
            <a:avLst/>
          </a:prstGeom>
          <a:noFill/>
        </p:spPr>
        <p:txBody>
          <a:bodyPr wrap="square">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Explainable AI-Based Predictive Maintenance &amp; Energy Optimization System for Tunnel Ventilation fan using Multi-Sensor Fusion</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AC778DD7-50CD-F9A7-8398-B700869614F8}"/>
              </a:ext>
            </a:extLst>
          </p:cNvPr>
          <p:cNvSpPr txBox="1"/>
          <p:nvPr/>
        </p:nvSpPr>
        <p:spPr>
          <a:xfrm>
            <a:off x="512064" y="2598003"/>
            <a:ext cx="4965192" cy="83099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Theme: </a:t>
            </a:r>
            <a:r>
              <a:rPr lang="en-IN" sz="2400" dirty="0">
                <a:solidFill>
                  <a:srgbClr val="002060"/>
                </a:solidFill>
                <a:latin typeface="Times New Roman" panose="02020603050405020304" pitchFamily="18" charset="0"/>
                <a:cs typeface="Times New Roman" panose="02020603050405020304" pitchFamily="18" charset="0"/>
              </a:rPr>
              <a:t>Utilities and Energy</a:t>
            </a:r>
          </a:p>
          <a:p>
            <a:r>
              <a:rPr lang="en-IN" sz="2400" b="1" dirty="0">
                <a:latin typeface="Times New Roman" panose="02020603050405020304" pitchFamily="18" charset="0"/>
                <a:cs typeface="Times New Roman" panose="02020603050405020304" pitchFamily="18" charset="0"/>
              </a:rPr>
              <a:t>Domain: </a:t>
            </a:r>
            <a:r>
              <a:rPr lang="en-IN" sz="2400" dirty="0">
                <a:solidFill>
                  <a:srgbClr val="002060"/>
                </a:solidFill>
                <a:latin typeface="Times New Roman" panose="02020603050405020304" pitchFamily="18" charset="0"/>
                <a:cs typeface="Times New Roman" panose="02020603050405020304" pitchFamily="18" charset="0"/>
              </a:rPr>
              <a:t>Predictive asset management</a:t>
            </a:r>
          </a:p>
        </p:txBody>
      </p:sp>
      <p:sp>
        <p:nvSpPr>
          <p:cNvPr id="5" name="TextBox 4">
            <a:extLst>
              <a:ext uri="{FF2B5EF4-FFF2-40B4-BE49-F238E27FC236}">
                <a16:creationId xmlns:a16="http://schemas.microsoft.com/office/drawing/2014/main" xmlns="" id="{88742BF2-882D-0833-BB64-7B0C01F8BF3A}"/>
              </a:ext>
            </a:extLst>
          </p:cNvPr>
          <p:cNvSpPr txBox="1"/>
          <p:nvPr/>
        </p:nvSpPr>
        <p:spPr>
          <a:xfrm>
            <a:off x="4398264" y="4375715"/>
            <a:ext cx="5641848" cy="523220"/>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Team Name: </a:t>
            </a:r>
            <a:r>
              <a:rPr lang="en-IN" sz="2800" b="1" dirty="0">
                <a:solidFill>
                  <a:srgbClr val="002060"/>
                </a:solidFill>
                <a:latin typeface="Times New Roman" panose="02020603050405020304" pitchFamily="18" charset="0"/>
                <a:cs typeface="Times New Roman" panose="02020603050405020304" pitchFamily="18" charset="0"/>
              </a:rPr>
              <a:t>Quad Squad Solution</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13DB411B-645F-C455-FE58-3BD44A8A27E4}"/>
              </a:ext>
            </a:extLst>
          </p:cNvPr>
          <p:cNvSpPr txBox="1"/>
          <p:nvPr/>
        </p:nvSpPr>
        <p:spPr>
          <a:xfrm>
            <a:off x="4398264" y="4898935"/>
            <a:ext cx="8211312" cy="523220"/>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College name:</a:t>
            </a:r>
            <a:r>
              <a:rPr lang="en-IN" sz="2400" dirty="0">
                <a:latin typeface="Times New Roman" panose="02020603050405020304" pitchFamily="18" charset="0"/>
                <a:cs typeface="Times New Roman" panose="02020603050405020304" pitchFamily="18" charset="0"/>
              </a:rPr>
              <a:t> </a:t>
            </a:r>
            <a:r>
              <a:rPr lang="en-IN" sz="2800" b="1" dirty="0">
                <a:solidFill>
                  <a:srgbClr val="002060"/>
                </a:solidFill>
                <a:latin typeface="Times New Roman" panose="02020603050405020304" pitchFamily="18" charset="0"/>
                <a:cs typeface="Times New Roman" panose="02020603050405020304" pitchFamily="18" charset="0"/>
              </a:rPr>
              <a:t>Mepco Schlenk Engineering College</a:t>
            </a:r>
            <a:endParaRPr lang="en-IN" sz="20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462395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A1E4F962-C981-00E6-2AED-C919EA1CD5AA}"/>
              </a:ext>
            </a:extLst>
          </p:cNvPr>
          <p:cNvSpPr txBox="1"/>
          <p:nvPr/>
        </p:nvSpPr>
        <p:spPr>
          <a:xfrm>
            <a:off x="118872" y="56638"/>
            <a:ext cx="3401568" cy="461665"/>
          </a:xfrm>
          <a:prstGeom prst="rect">
            <a:avLst/>
          </a:prstGeom>
          <a:noFill/>
        </p:spPr>
        <p:txBody>
          <a:bodyPr wrap="squar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Problem Statement:</a:t>
            </a:r>
          </a:p>
        </p:txBody>
      </p:sp>
      <p:sp>
        <p:nvSpPr>
          <p:cNvPr id="4" name="TextBox 3">
            <a:extLst>
              <a:ext uri="{FF2B5EF4-FFF2-40B4-BE49-F238E27FC236}">
                <a16:creationId xmlns:a16="http://schemas.microsoft.com/office/drawing/2014/main" xmlns="" id="{0DFD1F49-58FD-0848-24A2-728390E83DC6}"/>
              </a:ext>
            </a:extLst>
          </p:cNvPr>
          <p:cNvSpPr txBox="1"/>
          <p:nvPr/>
        </p:nvSpPr>
        <p:spPr>
          <a:xfrm>
            <a:off x="770382" y="898112"/>
            <a:ext cx="11189970"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Tunnel ventilation systems today operate in a static and reactive manner, lacking intelligent monitoring and predictive capabilities. This leads to excessive energy consumption, unexpected equipment failures, and compromised air quality, posing serious safety and economic challenges.</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5573D817-FB39-22BC-1C04-3FA8DDB4EB3E}"/>
              </a:ext>
            </a:extLst>
          </p:cNvPr>
          <p:cNvSpPr txBox="1"/>
          <p:nvPr/>
        </p:nvSpPr>
        <p:spPr>
          <a:xfrm>
            <a:off x="386334" y="513385"/>
            <a:ext cx="1799082" cy="400110"/>
          </a:xfrm>
          <a:prstGeom prst="rect">
            <a:avLst/>
          </a:prstGeom>
          <a:noFill/>
        </p:spPr>
        <p:txBody>
          <a:bodyPr wrap="square" rtlCol="0">
            <a:spAutoFit/>
          </a:bodyPr>
          <a:lstStyle/>
          <a:p>
            <a:r>
              <a:rPr lang="en-IN" sz="2000" b="1" dirty="0">
                <a:solidFill>
                  <a:srgbClr val="002060"/>
                </a:solidFill>
                <a:latin typeface="Times New Roman" panose="02020603050405020304" pitchFamily="18" charset="0"/>
                <a:cs typeface="Times New Roman" panose="02020603050405020304" pitchFamily="18" charset="0"/>
              </a:rPr>
              <a:t>The problem:</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3269290C-A539-E57C-26C3-CB9E203ACC02}"/>
              </a:ext>
            </a:extLst>
          </p:cNvPr>
          <p:cNvSpPr txBox="1"/>
          <p:nvPr/>
        </p:nvSpPr>
        <p:spPr>
          <a:xfrm>
            <a:off x="459486" y="1873174"/>
            <a:ext cx="2587752" cy="400110"/>
          </a:xfrm>
          <a:prstGeom prst="rect">
            <a:avLst/>
          </a:prstGeom>
          <a:noFill/>
        </p:spPr>
        <p:txBody>
          <a:bodyPr wrap="square" rtlCol="0">
            <a:spAutoFit/>
          </a:bodyPr>
          <a:lstStyle/>
          <a:p>
            <a:r>
              <a:rPr lang="en-IN" sz="2000" b="1" dirty="0">
                <a:solidFill>
                  <a:srgbClr val="002060"/>
                </a:solidFill>
                <a:latin typeface="Times New Roman" panose="02020603050405020304" pitchFamily="18" charset="0"/>
                <a:cs typeface="Times New Roman" panose="02020603050405020304" pitchFamily="18" charset="0"/>
              </a:rPr>
              <a:t>Current challenges: </a:t>
            </a:r>
          </a:p>
        </p:txBody>
      </p:sp>
      <p:sp>
        <p:nvSpPr>
          <p:cNvPr id="7" name="TextBox 6">
            <a:extLst>
              <a:ext uri="{FF2B5EF4-FFF2-40B4-BE49-F238E27FC236}">
                <a16:creationId xmlns:a16="http://schemas.microsoft.com/office/drawing/2014/main" xmlns="" id="{C3E7B738-637D-4B42-C9E6-702EFC0CF0DA}"/>
              </a:ext>
            </a:extLst>
          </p:cNvPr>
          <p:cNvSpPr txBox="1"/>
          <p:nvPr/>
        </p:nvSpPr>
        <p:spPr>
          <a:xfrm>
            <a:off x="770382" y="2273284"/>
            <a:ext cx="10796778" cy="3970318"/>
          </a:xfrm>
          <a:prstGeom prst="rect">
            <a:avLst/>
          </a:prstGeom>
          <a:noFill/>
        </p:spPr>
        <p:txBody>
          <a:bodyPr wrap="square" rtlCol="0">
            <a:spAutoFit/>
          </a:bodyPr>
          <a:lstStyle/>
          <a:p>
            <a:pPr marL="28575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Continuous Operation Without Demand Awareness</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Ventilation fans run continuously </a:t>
            </a:r>
            <a:r>
              <a:rPr lang="en-US" b="1" dirty="0">
                <a:latin typeface="Times New Roman" panose="02020603050405020304" pitchFamily="18" charset="0"/>
                <a:cs typeface="Times New Roman" panose="02020603050405020304" pitchFamily="18" charset="0"/>
              </a:rPr>
              <a:t>irrespective of traffic density, pollution levels, or temperature variations</a:t>
            </a:r>
            <a:r>
              <a:rPr lang="en-US" dirty="0">
                <a:latin typeface="Times New Roman" panose="02020603050405020304" pitchFamily="18" charset="0"/>
                <a:cs typeface="Times New Roman" panose="02020603050405020304" pitchFamily="18" charset="0"/>
              </a:rPr>
              <a:t>, resulting in significant energy wastage.</a:t>
            </a:r>
          </a:p>
          <a:p>
            <a:pPr marL="28575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Lack of Predictive Maintenance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Existing systems rely on </a:t>
            </a:r>
            <a:r>
              <a:rPr lang="en-US" b="1" dirty="0">
                <a:latin typeface="Times New Roman" panose="02020603050405020304" pitchFamily="18" charset="0"/>
                <a:cs typeface="Times New Roman" panose="02020603050405020304" pitchFamily="18" charset="0"/>
              </a:rPr>
              <a:t>reactive maintenance</a:t>
            </a:r>
            <a:r>
              <a:rPr lang="en-US" dirty="0">
                <a:latin typeface="Times New Roman" panose="02020603050405020304" pitchFamily="18" charset="0"/>
                <a:cs typeface="Times New Roman" panose="02020603050405020304" pitchFamily="18" charset="0"/>
              </a:rPr>
              <a:t>, where faults are addressed only after failure occurs, leading to Unplanned downtime, Increased repair costs, Reduced equipment lifespan.</a:t>
            </a:r>
          </a:p>
          <a:p>
            <a:pPr marL="28575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Absence of Explainability in Failures</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Current monitoring systems may detect anomalies, but they </a:t>
            </a:r>
            <a:r>
              <a:rPr lang="en-US" b="1" dirty="0">
                <a:latin typeface="Times New Roman" panose="02020603050405020304" pitchFamily="18" charset="0"/>
                <a:cs typeface="Times New Roman" panose="02020603050405020304" pitchFamily="18" charset="0"/>
              </a:rPr>
              <a:t>do not explain the root cause</a:t>
            </a:r>
            <a:r>
              <a:rPr lang="en-US" dirty="0">
                <a:latin typeface="Times New Roman" panose="02020603050405020304" pitchFamily="18" charset="0"/>
                <a:cs typeface="Times New Roman" panose="02020603050405020304" pitchFamily="18" charset="0"/>
              </a:rPr>
              <a:t> of failures, making troubleshooting slow and inefficient.</a:t>
            </a:r>
          </a:p>
          <a:p>
            <a:pPr marL="285750" indent="-285750">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No Intelligent Decision-Making</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Ventilation control systems lack </a:t>
            </a:r>
            <a:r>
              <a:rPr lang="en-IN" b="1" dirty="0">
                <a:latin typeface="Times New Roman" panose="02020603050405020304" pitchFamily="18" charset="0"/>
                <a:cs typeface="Times New Roman" panose="02020603050405020304" pitchFamily="18" charset="0"/>
              </a:rPr>
              <a:t>AI-driven optimization</a:t>
            </a:r>
            <a:r>
              <a:rPr lang="en-IN" dirty="0">
                <a:latin typeface="Times New Roman" panose="02020603050405020304" pitchFamily="18" charset="0"/>
                <a:cs typeface="Times New Roman" panose="02020603050405020304" pitchFamily="18" charset="0"/>
              </a:rPr>
              <a:t>, resulting in Over-ventilation (energy waste) </a:t>
            </a:r>
          </a:p>
          <a:p>
            <a:r>
              <a:rPr lang="en-IN" dirty="0">
                <a:latin typeface="Times New Roman" panose="02020603050405020304" pitchFamily="18" charset="0"/>
                <a:cs typeface="Times New Roman" panose="02020603050405020304" pitchFamily="18" charset="0"/>
              </a:rPr>
              <a:t>Under-ventilation (unsafe air quality)</a:t>
            </a: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588613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F93C7CAE-A4CC-A800-423F-CE1EC3C8FA81}"/>
              </a:ext>
            </a:extLst>
          </p:cNvPr>
          <p:cNvSpPr txBox="1"/>
          <p:nvPr/>
        </p:nvSpPr>
        <p:spPr>
          <a:xfrm>
            <a:off x="208345" y="219919"/>
            <a:ext cx="2928395" cy="461665"/>
          </a:xfrm>
          <a:prstGeom prst="rect">
            <a:avLst/>
          </a:prstGeom>
          <a:noFill/>
        </p:spPr>
        <p:txBody>
          <a:bodyPr wrap="squar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Business Scenario</a:t>
            </a:r>
          </a:p>
        </p:txBody>
      </p:sp>
      <p:sp>
        <p:nvSpPr>
          <p:cNvPr id="12" name="TextBox 11">
            <a:extLst>
              <a:ext uri="{FF2B5EF4-FFF2-40B4-BE49-F238E27FC236}">
                <a16:creationId xmlns:a16="http://schemas.microsoft.com/office/drawing/2014/main" xmlns="" id="{82E85DCB-D839-4484-970D-208F0AD0041C}"/>
              </a:ext>
            </a:extLst>
          </p:cNvPr>
          <p:cNvSpPr txBox="1"/>
          <p:nvPr/>
        </p:nvSpPr>
        <p:spPr>
          <a:xfrm>
            <a:off x="472440" y="673517"/>
            <a:ext cx="2819400" cy="400110"/>
          </a:xfrm>
          <a:prstGeom prst="rect">
            <a:avLst/>
          </a:prstGeom>
          <a:noFill/>
        </p:spPr>
        <p:txBody>
          <a:bodyPr wrap="square" rtlCol="0">
            <a:spAutoFit/>
          </a:bodyPr>
          <a:lstStyle/>
          <a:p>
            <a:r>
              <a:rPr lang="en-IN" sz="2000" b="1" dirty="0">
                <a:solidFill>
                  <a:srgbClr val="002060"/>
                </a:solidFill>
                <a:latin typeface="Times New Roman" panose="02020603050405020304" pitchFamily="18" charset="0"/>
                <a:cs typeface="Times New Roman" panose="02020603050405020304" pitchFamily="18" charset="0"/>
              </a:rPr>
              <a:t>Real world context: </a:t>
            </a:r>
          </a:p>
        </p:txBody>
      </p:sp>
      <p:sp>
        <p:nvSpPr>
          <p:cNvPr id="13" name="TextBox 12">
            <a:extLst>
              <a:ext uri="{FF2B5EF4-FFF2-40B4-BE49-F238E27FC236}">
                <a16:creationId xmlns:a16="http://schemas.microsoft.com/office/drawing/2014/main" xmlns="" id="{8FA25335-6EA1-91C0-4DAE-C7BF525CA8D5}"/>
              </a:ext>
            </a:extLst>
          </p:cNvPr>
          <p:cNvSpPr txBox="1"/>
          <p:nvPr/>
        </p:nvSpPr>
        <p:spPr>
          <a:xfrm>
            <a:off x="711200" y="1066800"/>
            <a:ext cx="10891520"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Tunnel ventilation systems are critical infrastructure components used in road, railway, and mining tunnels, where maintaining safe air quality and continuous operation is essential. These systems operate under high energy demand and harsh environmental conditions, making them both cost-intensive and failure-prone.</a:t>
            </a:r>
          </a:p>
          <a:p>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xmlns="" id="{0338C437-4CCE-F527-97E7-9F9225BB9899}"/>
              </a:ext>
            </a:extLst>
          </p:cNvPr>
          <p:cNvSpPr txBox="1"/>
          <p:nvPr/>
        </p:nvSpPr>
        <p:spPr>
          <a:xfrm>
            <a:off x="472440" y="2169726"/>
            <a:ext cx="3889248" cy="400110"/>
          </a:xfrm>
          <a:prstGeom prst="rect">
            <a:avLst/>
          </a:prstGeom>
          <a:noFill/>
        </p:spPr>
        <p:txBody>
          <a:bodyPr wrap="square" rtlCol="0">
            <a:spAutoFit/>
          </a:bodyPr>
          <a:lstStyle/>
          <a:p>
            <a:r>
              <a:rPr lang="en-IN" sz="2000" b="1" dirty="0">
                <a:solidFill>
                  <a:srgbClr val="002060"/>
                </a:solidFill>
                <a:latin typeface="Times New Roman" panose="02020603050405020304" pitchFamily="18" charset="0"/>
                <a:cs typeface="Times New Roman" panose="02020603050405020304" pitchFamily="18" charset="0"/>
              </a:rPr>
              <a:t>Industry trends and needs: </a:t>
            </a:r>
          </a:p>
        </p:txBody>
      </p:sp>
      <p:sp>
        <p:nvSpPr>
          <p:cNvPr id="15" name="TextBox 14">
            <a:extLst>
              <a:ext uri="{FF2B5EF4-FFF2-40B4-BE49-F238E27FC236}">
                <a16:creationId xmlns:a16="http://schemas.microsoft.com/office/drawing/2014/main" xmlns="" id="{F5CF033A-E149-3767-858A-4E4852C32464}"/>
              </a:ext>
            </a:extLst>
          </p:cNvPr>
          <p:cNvSpPr txBox="1"/>
          <p:nvPr/>
        </p:nvSpPr>
        <p:spPr>
          <a:xfrm>
            <a:off x="594360" y="2561769"/>
            <a:ext cx="11125200" cy="147732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With the rise of smart cities and intelligent infrastructure, there is a growing demand for data-driven, energy-efficient, and predictive systems. Governments and industries are actively investing in IoT and AI-based automation to reduce operational costs and improve safety. However, current solutions lack explainability and adaptive optimization, creating a gap in trust and efficiency.</a:t>
            </a:r>
          </a:p>
          <a:p>
            <a:endParaRPr lang="en-IN"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xmlns="" id="{19D6124A-0BE0-7D3B-8536-587E488A7EBF}"/>
              </a:ext>
            </a:extLst>
          </p:cNvPr>
          <p:cNvSpPr txBox="1"/>
          <p:nvPr/>
        </p:nvSpPr>
        <p:spPr>
          <a:xfrm>
            <a:off x="589280" y="4554728"/>
            <a:ext cx="11308080" cy="1754326"/>
          </a:xfrm>
          <a:prstGeom prst="rect">
            <a:avLst/>
          </a:prstGeom>
          <a:noFill/>
        </p:spPr>
        <p:txBody>
          <a:bodyPr wrap="square" rtlCol="0">
            <a:spAutoFit/>
          </a:bodyPr>
          <a:lstStyle/>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Without intelligent monitoring and optimization:</a:t>
            </a: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Organizations face </a:t>
            </a:r>
            <a:r>
              <a:rPr lang="en-US" b="1" dirty="0">
                <a:latin typeface="Times New Roman" panose="02020603050405020304" pitchFamily="18" charset="0"/>
                <a:cs typeface="Times New Roman" panose="02020603050405020304" pitchFamily="18" charset="0"/>
              </a:rPr>
              <a:t>high energy costs and resource wastage</a:t>
            </a:r>
            <a:r>
              <a:rPr lang="en-US"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Unexpected failures lead to </a:t>
            </a:r>
            <a:r>
              <a:rPr lang="en-US" b="1" dirty="0">
                <a:latin typeface="Times New Roman" panose="02020603050405020304" pitchFamily="18" charset="0"/>
                <a:cs typeface="Times New Roman" panose="02020603050405020304" pitchFamily="18" charset="0"/>
              </a:rPr>
              <a:t>downtime and expensive repairs</a:t>
            </a:r>
            <a:r>
              <a:rPr lang="en-US"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Safety risks increase due to </a:t>
            </a:r>
            <a:r>
              <a:rPr lang="en-US" b="1" dirty="0">
                <a:latin typeface="Times New Roman" panose="02020603050405020304" pitchFamily="18" charset="0"/>
                <a:cs typeface="Times New Roman" panose="02020603050405020304" pitchFamily="18" charset="0"/>
              </a:rPr>
              <a:t>poor air quality management</a:t>
            </a:r>
            <a:r>
              <a:rPr lang="en-US"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This directly impacts </a:t>
            </a:r>
            <a:r>
              <a:rPr lang="en-US" b="1" dirty="0">
                <a:latin typeface="Times New Roman" panose="02020603050405020304" pitchFamily="18" charset="0"/>
                <a:cs typeface="Times New Roman" panose="02020603050405020304" pitchFamily="18" charset="0"/>
              </a:rPr>
              <a:t>operational efficiency, regulatory compliance, and long-term infrastructure sustainability</a:t>
            </a:r>
            <a:r>
              <a:rPr lang="en-US"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xmlns="" id="{D45B57D2-1AF6-83CD-AEF1-0C0EEF1ADEE0}"/>
              </a:ext>
            </a:extLst>
          </p:cNvPr>
          <p:cNvSpPr txBox="1"/>
          <p:nvPr/>
        </p:nvSpPr>
        <p:spPr>
          <a:xfrm>
            <a:off x="472440" y="4039097"/>
            <a:ext cx="3889248" cy="677108"/>
          </a:xfrm>
          <a:prstGeom prst="rect">
            <a:avLst/>
          </a:prstGeom>
          <a:noFill/>
        </p:spPr>
        <p:txBody>
          <a:bodyPr wrap="square" rtlCol="0">
            <a:spAutoFit/>
          </a:bodyPr>
          <a:lstStyle/>
          <a:p>
            <a:r>
              <a:rPr lang="en-IN" sz="2000" b="1" dirty="0">
                <a:solidFill>
                  <a:srgbClr val="002060"/>
                </a:solidFill>
                <a:latin typeface="Times New Roman" panose="02020603050405020304" pitchFamily="18" charset="0"/>
                <a:cs typeface="Times New Roman" panose="02020603050405020304" pitchFamily="18" charset="0"/>
              </a:rPr>
              <a:t>Business risk without solution:</a:t>
            </a:r>
          </a:p>
          <a:p>
            <a:endParaRPr lang="en-IN" dirty="0"/>
          </a:p>
        </p:txBody>
      </p:sp>
    </p:spTree>
    <p:extLst>
      <p:ext uri="{BB962C8B-B14F-4D97-AF65-F5344CB8AC3E}">
        <p14:creationId xmlns:p14="http://schemas.microsoft.com/office/powerpoint/2010/main" xmlns="" val="2910095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CA06A1F3-A86D-D4BF-4677-4707155F023E}"/>
              </a:ext>
            </a:extLst>
          </p:cNvPr>
          <p:cNvSpPr txBox="1"/>
          <p:nvPr/>
        </p:nvSpPr>
        <p:spPr>
          <a:xfrm>
            <a:off x="284480" y="233680"/>
            <a:ext cx="2306320" cy="461665"/>
          </a:xfrm>
          <a:prstGeom prst="rect">
            <a:avLst/>
          </a:prstGeom>
          <a:noFill/>
        </p:spPr>
        <p:txBody>
          <a:bodyPr wrap="squar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Problem Scope:</a:t>
            </a:r>
          </a:p>
        </p:txBody>
      </p:sp>
      <p:sp>
        <p:nvSpPr>
          <p:cNvPr id="3" name="TextBox 2">
            <a:extLst>
              <a:ext uri="{FF2B5EF4-FFF2-40B4-BE49-F238E27FC236}">
                <a16:creationId xmlns:a16="http://schemas.microsoft.com/office/drawing/2014/main" xmlns="" id="{407FD1F1-A967-DC5B-CC4E-9C2309623570}"/>
              </a:ext>
            </a:extLst>
          </p:cNvPr>
          <p:cNvSpPr txBox="1"/>
          <p:nvPr/>
        </p:nvSpPr>
        <p:spPr>
          <a:xfrm>
            <a:off x="680720" y="633790"/>
            <a:ext cx="390144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Scope of the problem:</a:t>
            </a:r>
          </a:p>
        </p:txBody>
      </p:sp>
      <p:sp>
        <p:nvSpPr>
          <p:cNvPr id="4" name="TextBox 3">
            <a:extLst>
              <a:ext uri="{FF2B5EF4-FFF2-40B4-BE49-F238E27FC236}">
                <a16:creationId xmlns:a16="http://schemas.microsoft.com/office/drawing/2014/main" xmlns="" id="{3F485292-E953-1446-2B37-9BC50D238D78}"/>
              </a:ext>
            </a:extLst>
          </p:cNvPr>
          <p:cNvSpPr txBox="1"/>
          <p:nvPr/>
        </p:nvSpPr>
        <p:spPr>
          <a:xfrm>
            <a:off x="833120" y="1003122"/>
            <a:ext cx="10190480"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This solution focuses specifically on </a:t>
            </a:r>
            <a:r>
              <a:rPr lang="en-US" b="1" dirty="0">
                <a:latin typeface="Times New Roman" panose="02020603050405020304" pitchFamily="18" charset="0"/>
                <a:cs typeface="Times New Roman" panose="02020603050405020304" pitchFamily="18" charset="0"/>
              </a:rPr>
              <a:t>tunnel ventilation fan systems</a:t>
            </a:r>
            <a:r>
              <a:rPr lang="en-US" dirty="0">
                <a:latin typeface="Times New Roman" panose="02020603050405020304" pitchFamily="18" charset="0"/>
                <a:cs typeface="Times New Roman" panose="02020603050405020304" pitchFamily="18" charset="0"/>
              </a:rPr>
              <a:t>, targeting their </a:t>
            </a:r>
            <a:r>
              <a:rPr lang="en-US" b="1" dirty="0">
                <a:latin typeface="Times New Roman" panose="02020603050405020304" pitchFamily="18" charset="0"/>
                <a:cs typeface="Times New Roman" panose="02020603050405020304" pitchFamily="18" charset="0"/>
              </a:rPr>
              <a:t>performance monitoring, failure prediction, and energy optimization</a:t>
            </a:r>
            <a:r>
              <a:rPr lang="en-US" dirty="0">
                <a:latin typeface="Times New Roman" panose="02020603050405020304" pitchFamily="18" charset="0"/>
                <a:cs typeface="Times New Roman" panose="02020603050405020304" pitchFamily="18" charset="0"/>
              </a:rPr>
              <a:t> using multi-sensor data.</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4250D600-0600-7206-D6DA-0E219D07E5DF}"/>
              </a:ext>
            </a:extLst>
          </p:cNvPr>
          <p:cNvSpPr txBox="1"/>
          <p:nvPr/>
        </p:nvSpPr>
        <p:spPr>
          <a:xfrm>
            <a:off x="833120" y="1940560"/>
            <a:ext cx="245872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System coverage: </a:t>
            </a:r>
          </a:p>
        </p:txBody>
      </p:sp>
      <p:sp>
        <p:nvSpPr>
          <p:cNvPr id="6" name="TextBox 5">
            <a:extLst>
              <a:ext uri="{FF2B5EF4-FFF2-40B4-BE49-F238E27FC236}">
                <a16:creationId xmlns:a16="http://schemas.microsoft.com/office/drawing/2014/main" xmlns="" id="{A78DA72E-8677-7239-CE96-CBF4D9E44966}"/>
              </a:ext>
            </a:extLst>
          </p:cNvPr>
          <p:cNvSpPr txBox="1"/>
          <p:nvPr/>
        </p:nvSpPr>
        <p:spPr>
          <a:xfrm>
            <a:off x="833120" y="2309892"/>
            <a:ext cx="10749280" cy="230832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system considers multi-sensor data including:</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Vibration and temperature (equipment health) </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Air quality parameters (CO, NOx levels) </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Fan speed and current consumption </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Humidity and environmental conditions </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Traffic density influencing ventilation demand </a:t>
            </a:r>
          </a:p>
          <a:p>
            <a:r>
              <a:rPr lang="en-US" dirty="0">
                <a:latin typeface="Times New Roman" panose="02020603050405020304" pitchFamily="18" charset="0"/>
                <a:cs typeface="Times New Roman" panose="02020603050405020304" pitchFamily="18" charset="0"/>
              </a:rPr>
              <a:t>These parameters are used to understand both </a:t>
            </a:r>
            <a:r>
              <a:rPr lang="en-US" b="1" dirty="0">
                <a:latin typeface="Times New Roman" panose="02020603050405020304" pitchFamily="18" charset="0"/>
                <a:cs typeface="Times New Roman" panose="02020603050405020304" pitchFamily="18" charset="0"/>
              </a:rPr>
              <a:t>machine condition and real-time ventilation requirements</a:t>
            </a:r>
            <a:r>
              <a:rPr lang="en-US"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F34AE0B9-892D-0537-866C-8C6D2895A4DE}"/>
              </a:ext>
            </a:extLst>
          </p:cNvPr>
          <p:cNvSpPr txBox="1"/>
          <p:nvPr/>
        </p:nvSpPr>
        <p:spPr>
          <a:xfrm>
            <a:off x="955040" y="4618216"/>
            <a:ext cx="2895600" cy="369332"/>
          </a:xfrm>
          <a:prstGeom prst="rect">
            <a:avLst/>
          </a:prstGeom>
          <a:noFill/>
        </p:spPr>
        <p:txBody>
          <a:bodyPr wrap="square" rtlCol="0">
            <a:spAutoFit/>
          </a:bodyPr>
          <a:lstStyle/>
          <a:p>
            <a:r>
              <a:rPr lang="en-IN" dirty="0"/>
              <a:t>Limitations and boundaries:</a:t>
            </a:r>
          </a:p>
        </p:txBody>
      </p:sp>
      <p:sp>
        <p:nvSpPr>
          <p:cNvPr id="10" name="Rectangle 2">
            <a:extLst>
              <a:ext uri="{FF2B5EF4-FFF2-40B4-BE49-F238E27FC236}">
                <a16:creationId xmlns:a16="http://schemas.microsoft.com/office/drawing/2014/main" xmlns="" id="{0E15348F-0AD7-F859-B81C-FF362389A89F}"/>
              </a:ext>
            </a:extLst>
          </p:cNvPr>
          <p:cNvSpPr>
            <a:spLocks noChangeArrowheads="1"/>
          </p:cNvSpPr>
          <p:nvPr/>
        </p:nvSpPr>
        <p:spPr bwMode="auto">
          <a:xfrm>
            <a:off x="833120" y="4987548"/>
            <a:ext cx="7731604" cy="923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defTabSz="914400" eaLnBrk="0" fontAlgn="base" hangingPunct="0">
              <a:spcBef>
                <a:spcPct val="0"/>
              </a:spcBef>
              <a:spcAft>
                <a:spcPct val="0"/>
              </a:spcAft>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Focus is limited to </a:t>
            </a:r>
            <a:r>
              <a:rPr lang="en-US" altLang="en-US" b="1" dirty="0">
                <a:latin typeface="Times New Roman" panose="02020603050405020304" pitchFamily="18" charset="0"/>
                <a:cs typeface="Times New Roman" panose="02020603050405020304" pitchFamily="18" charset="0"/>
              </a:rPr>
              <a:t>ventilation fan subsystem</a:t>
            </a:r>
            <a:r>
              <a:rPr lang="en-US" altLang="en-US" dirty="0">
                <a:latin typeface="Times New Roman" panose="02020603050405020304" pitchFamily="18" charset="0"/>
                <a:cs typeface="Times New Roman" panose="02020603050405020304" pitchFamily="18" charset="0"/>
              </a:rPr>
              <a:t>, not entire tunnel infrastructure </a:t>
            </a:r>
          </a:p>
          <a:p>
            <a:pPr marL="285750" lvl="0" indent="-285750" defTabSz="914400" eaLnBrk="0" fontAlgn="base" hangingPunct="0">
              <a:spcBef>
                <a:spcPct val="0"/>
              </a:spcBef>
              <a:spcAft>
                <a:spcPct val="0"/>
              </a:spcAft>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Prototype uses </a:t>
            </a:r>
            <a:r>
              <a:rPr lang="en-US" altLang="en-US" b="1" dirty="0">
                <a:latin typeface="Times New Roman" panose="02020603050405020304" pitchFamily="18" charset="0"/>
                <a:cs typeface="Times New Roman" panose="02020603050405020304" pitchFamily="18" charset="0"/>
              </a:rPr>
              <a:t>low-cost IoT hardware for data collection</a:t>
            </a:r>
            <a:r>
              <a:rPr lang="en-US" altLang="en-US" dirty="0">
                <a:latin typeface="Times New Roman" panose="02020603050405020304" pitchFamily="18" charset="0"/>
                <a:cs typeface="Times New Roman" panose="02020603050405020304" pitchFamily="18" charset="0"/>
              </a:rPr>
              <a:t> </a:t>
            </a:r>
          </a:p>
          <a:p>
            <a:pPr marL="285750" lvl="0" indent="-285750" defTabSz="914400" eaLnBrk="0" fontAlgn="base" hangingPunct="0">
              <a:spcBef>
                <a:spcPct val="0"/>
              </a:spcBef>
              <a:spcAft>
                <a:spcPct val="0"/>
              </a:spcAft>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Advanced analytics and decision-making are handled externally </a:t>
            </a:r>
          </a:p>
        </p:txBody>
      </p:sp>
    </p:spTree>
    <p:extLst>
      <p:ext uri="{BB962C8B-B14F-4D97-AF65-F5344CB8AC3E}">
        <p14:creationId xmlns:p14="http://schemas.microsoft.com/office/powerpoint/2010/main" xmlns="" val="243974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D38286DF-31A2-94CF-D530-1B6A298F17B1}"/>
              </a:ext>
            </a:extLst>
          </p:cNvPr>
          <p:cNvSpPr txBox="1"/>
          <p:nvPr/>
        </p:nvSpPr>
        <p:spPr>
          <a:xfrm>
            <a:off x="81280" y="95349"/>
            <a:ext cx="4632960" cy="461665"/>
          </a:xfrm>
          <a:prstGeom prst="rect">
            <a:avLst/>
          </a:prstGeom>
          <a:noFill/>
        </p:spPr>
        <p:txBody>
          <a:bodyPr wrap="squar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Target Users / Stakeholders</a:t>
            </a:r>
          </a:p>
        </p:txBody>
      </p:sp>
      <p:sp>
        <p:nvSpPr>
          <p:cNvPr id="3" name="TextBox 2">
            <a:extLst>
              <a:ext uri="{FF2B5EF4-FFF2-40B4-BE49-F238E27FC236}">
                <a16:creationId xmlns:a16="http://schemas.microsoft.com/office/drawing/2014/main" xmlns="" id="{8E0D6359-DC49-8285-C3BF-9D6879D26DA6}"/>
              </a:ext>
            </a:extLst>
          </p:cNvPr>
          <p:cNvSpPr txBox="1"/>
          <p:nvPr/>
        </p:nvSpPr>
        <p:spPr>
          <a:xfrm>
            <a:off x="447040" y="603180"/>
            <a:ext cx="188976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Primary Users:</a:t>
            </a:r>
          </a:p>
        </p:txBody>
      </p:sp>
      <p:sp>
        <p:nvSpPr>
          <p:cNvPr id="4" name="TextBox 3">
            <a:extLst>
              <a:ext uri="{FF2B5EF4-FFF2-40B4-BE49-F238E27FC236}">
                <a16:creationId xmlns:a16="http://schemas.microsoft.com/office/drawing/2014/main" xmlns="" id="{87FE785D-32B0-3C49-0055-06D9D05FDB98}"/>
              </a:ext>
            </a:extLst>
          </p:cNvPr>
          <p:cNvSpPr txBox="1"/>
          <p:nvPr/>
        </p:nvSpPr>
        <p:spPr>
          <a:xfrm>
            <a:off x="447040" y="1018679"/>
            <a:ext cx="10200640"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system is designed for </a:t>
            </a:r>
            <a:r>
              <a:rPr lang="en-US" b="1" dirty="0">
                <a:latin typeface="Times New Roman" panose="02020603050405020304" pitchFamily="18" charset="0"/>
                <a:cs typeface="Times New Roman" panose="02020603050405020304" pitchFamily="18" charset="0"/>
              </a:rPr>
              <a:t>tunnel operators and maintenance engineers</a:t>
            </a:r>
            <a:r>
              <a:rPr lang="en-US" dirty="0">
                <a:latin typeface="Times New Roman" panose="02020603050405020304" pitchFamily="18" charset="0"/>
                <a:cs typeface="Times New Roman" panose="02020603050405020304" pitchFamily="18" charset="0"/>
              </a:rPr>
              <a:t> who are responsible for ensuring continuous operation and safety of ventilation systems. They require </a:t>
            </a:r>
            <a:r>
              <a:rPr lang="en-US" b="1" dirty="0">
                <a:latin typeface="Times New Roman" panose="02020603050405020304" pitchFamily="18" charset="0"/>
                <a:cs typeface="Times New Roman" panose="02020603050405020304" pitchFamily="18" charset="0"/>
              </a:rPr>
              <a:t>real-time monitoring, early fault detection, and optimized control</a:t>
            </a:r>
            <a:r>
              <a:rPr lang="en-US" dirty="0">
                <a:latin typeface="Times New Roman" panose="02020603050405020304" pitchFamily="18" charset="0"/>
                <a:cs typeface="Times New Roman" panose="02020603050405020304" pitchFamily="18" charset="0"/>
              </a:rPr>
              <a:t> to manage tunnel environments efficiently.</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DE660A39-4824-A8A1-E5AD-0A80690E61AC}"/>
              </a:ext>
            </a:extLst>
          </p:cNvPr>
          <p:cNvSpPr txBox="1"/>
          <p:nvPr/>
        </p:nvSpPr>
        <p:spPr>
          <a:xfrm>
            <a:off x="447040" y="2133600"/>
            <a:ext cx="1656080" cy="369332"/>
          </a:xfrm>
          <a:prstGeom prst="rect">
            <a:avLst/>
          </a:prstGeom>
          <a:noFill/>
        </p:spPr>
        <p:txBody>
          <a:bodyPr wrap="square" rtlCol="0">
            <a:spAutoFit/>
          </a:bodyPr>
          <a:lstStyle/>
          <a:p>
            <a:r>
              <a:rPr lang="en-IN" dirty="0"/>
              <a:t>Stakeholders:</a:t>
            </a:r>
          </a:p>
        </p:txBody>
      </p:sp>
      <p:sp>
        <p:nvSpPr>
          <p:cNvPr id="6" name="TextBox 5">
            <a:extLst>
              <a:ext uri="{FF2B5EF4-FFF2-40B4-BE49-F238E27FC236}">
                <a16:creationId xmlns:a16="http://schemas.microsoft.com/office/drawing/2014/main" xmlns="" id="{98FBAB9A-B36A-E534-8DF3-304C276660AB}"/>
              </a:ext>
            </a:extLst>
          </p:cNvPr>
          <p:cNvSpPr txBox="1"/>
          <p:nvPr/>
        </p:nvSpPr>
        <p:spPr>
          <a:xfrm>
            <a:off x="538480" y="2502932"/>
            <a:ext cx="9956800" cy="923330"/>
          </a:xfrm>
          <a:prstGeom prst="rect">
            <a:avLst/>
          </a:prstGeom>
          <a:noFill/>
        </p:spPr>
        <p:txBody>
          <a:bodyPr wrap="square" rtlCol="0">
            <a:spAutoFit/>
          </a:bodyPr>
          <a:lstStyle/>
          <a:p>
            <a:r>
              <a:rPr lang="en-US" dirty="0"/>
              <a:t>This solution provides value to </a:t>
            </a:r>
            <a:r>
              <a:rPr lang="en-US" b="1" dirty="0"/>
              <a:t>government infrastructure bodies, smart city authorities, and industrial safety organizations</a:t>
            </a:r>
            <a:r>
              <a:rPr lang="en-US" dirty="0"/>
              <a:t>, which are focused on </a:t>
            </a:r>
            <a:r>
              <a:rPr lang="en-US" b="1" dirty="0"/>
              <a:t>reducing operational costs, improving energy efficiency, and ensuring regulatory compliance in public infrastructure systems</a:t>
            </a:r>
            <a:r>
              <a:rPr lang="en-US" dirty="0"/>
              <a:t>.</a:t>
            </a:r>
            <a:endParaRPr lang="en-IN" dirty="0"/>
          </a:p>
        </p:txBody>
      </p:sp>
      <p:sp>
        <p:nvSpPr>
          <p:cNvPr id="7" name="TextBox 6">
            <a:extLst>
              <a:ext uri="{FF2B5EF4-FFF2-40B4-BE49-F238E27FC236}">
                <a16:creationId xmlns:a16="http://schemas.microsoft.com/office/drawing/2014/main" xmlns="" id="{7FC5EDF5-094E-9EF7-A78E-AE528BDAF593}"/>
              </a:ext>
            </a:extLst>
          </p:cNvPr>
          <p:cNvSpPr txBox="1"/>
          <p:nvPr/>
        </p:nvSpPr>
        <p:spPr>
          <a:xfrm>
            <a:off x="538480" y="4147403"/>
            <a:ext cx="2631440" cy="369332"/>
          </a:xfrm>
          <a:prstGeom prst="rect">
            <a:avLst/>
          </a:prstGeom>
          <a:noFill/>
        </p:spPr>
        <p:txBody>
          <a:bodyPr wrap="square" rtlCol="0">
            <a:spAutoFit/>
          </a:bodyPr>
          <a:lstStyle/>
          <a:p>
            <a:r>
              <a:rPr lang="en-IN" dirty="0"/>
              <a:t>Current Pain Points:</a:t>
            </a:r>
          </a:p>
        </p:txBody>
      </p:sp>
      <p:sp>
        <p:nvSpPr>
          <p:cNvPr id="9" name="Rectangle 1">
            <a:extLst>
              <a:ext uri="{FF2B5EF4-FFF2-40B4-BE49-F238E27FC236}">
                <a16:creationId xmlns:a16="http://schemas.microsoft.com/office/drawing/2014/main" xmlns="" id="{C9324DFB-26E4-D336-458C-5C475C946455}"/>
              </a:ext>
            </a:extLst>
          </p:cNvPr>
          <p:cNvSpPr>
            <a:spLocks noChangeArrowheads="1"/>
          </p:cNvSpPr>
          <p:nvPr/>
        </p:nvSpPr>
        <p:spPr bwMode="auto">
          <a:xfrm>
            <a:off x="660400" y="4516735"/>
            <a:ext cx="9985490" cy="923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buFontTx/>
              <a:buChar char="•"/>
            </a:pPr>
            <a:r>
              <a:rPr lang="en-US" altLang="en-US" b="1" dirty="0">
                <a:latin typeface="Arial" panose="020B0604020202020204" pitchFamily="34" charset="0"/>
              </a:rPr>
              <a:t>Unexpected equipment failures</a:t>
            </a:r>
            <a:r>
              <a:rPr lang="en-US" altLang="en-US" dirty="0">
                <a:latin typeface="Arial" panose="020B0604020202020204" pitchFamily="34" charset="0"/>
              </a:rPr>
              <a:t> leading to costly downtime and safety risks </a:t>
            </a:r>
          </a:p>
          <a:p>
            <a:pPr lvl="0" defTabSz="914400" eaLnBrk="0" fontAlgn="base" hangingPunct="0">
              <a:spcBef>
                <a:spcPct val="0"/>
              </a:spcBef>
              <a:spcAft>
                <a:spcPct val="0"/>
              </a:spcAft>
              <a:buFontTx/>
              <a:buChar char="•"/>
            </a:pPr>
            <a:r>
              <a:rPr lang="en-US" altLang="en-US" b="1" dirty="0">
                <a:latin typeface="Arial" panose="020B0604020202020204" pitchFamily="34" charset="0"/>
              </a:rPr>
              <a:t>High energy consumption</a:t>
            </a:r>
            <a:r>
              <a:rPr lang="en-US" altLang="en-US" dirty="0">
                <a:latin typeface="Arial" panose="020B0604020202020204" pitchFamily="34" charset="0"/>
              </a:rPr>
              <a:t> due to inefficient, continuous fan operation </a:t>
            </a:r>
          </a:p>
          <a:p>
            <a:pPr lvl="0" defTabSz="914400" eaLnBrk="0" fontAlgn="base" hangingPunct="0">
              <a:spcBef>
                <a:spcPct val="0"/>
              </a:spcBef>
              <a:spcAft>
                <a:spcPct val="0"/>
              </a:spcAft>
              <a:buFontTx/>
              <a:buChar char="•"/>
            </a:pPr>
            <a:r>
              <a:rPr lang="en-US" altLang="en-US" b="1" dirty="0">
                <a:latin typeface="Arial" panose="020B0604020202020204" pitchFamily="34" charset="0"/>
              </a:rPr>
              <a:t>Lack of explainability in existing AI systems</a:t>
            </a:r>
            <a:r>
              <a:rPr lang="en-US" altLang="en-US" dirty="0">
                <a:latin typeface="Arial" panose="020B0604020202020204" pitchFamily="34" charset="0"/>
              </a:rPr>
              <a:t>, making decisions difficult to trust and act upon </a:t>
            </a:r>
          </a:p>
        </p:txBody>
      </p:sp>
    </p:spTree>
    <p:extLst>
      <p:ext uri="{BB962C8B-B14F-4D97-AF65-F5344CB8AC3E}">
        <p14:creationId xmlns:p14="http://schemas.microsoft.com/office/powerpoint/2010/main" xmlns="" val="620581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8B4E4E53-D851-637E-1CF0-03E8FD454B59}"/>
              </a:ext>
            </a:extLst>
          </p:cNvPr>
          <p:cNvSpPr txBox="1"/>
          <p:nvPr/>
        </p:nvSpPr>
        <p:spPr>
          <a:xfrm>
            <a:off x="142240" y="121920"/>
            <a:ext cx="3322320" cy="461665"/>
          </a:xfrm>
          <a:prstGeom prst="rect">
            <a:avLst/>
          </a:prstGeom>
          <a:noFill/>
        </p:spPr>
        <p:txBody>
          <a:bodyPr wrap="squar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Solution Overview:</a:t>
            </a:r>
          </a:p>
        </p:txBody>
      </p:sp>
      <p:sp>
        <p:nvSpPr>
          <p:cNvPr id="4" name="TextBox 3">
            <a:extLst>
              <a:ext uri="{FF2B5EF4-FFF2-40B4-BE49-F238E27FC236}">
                <a16:creationId xmlns:a16="http://schemas.microsoft.com/office/drawing/2014/main" xmlns="" id="{312009E4-E4AF-A5D7-0E6F-4593BF9A5852}"/>
              </a:ext>
            </a:extLst>
          </p:cNvPr>
          <p:cNvSpPr txBox="1"/>
          <p:nvPr/>
        </p:nvSpPr>
        <p:spPr>
          <a:xfrm>
            <a:off x="528320" y="583585"/>
            <a:ext cx="1991360" cy="369332"/>
          </a:xfrm>
          <a:prstGeom prst="rect">
            <a:avLst/>
          </a:prstGeom>
          <a:noFill/>
        </p:spPr>
        <p:txBody>
          <a:bodyPr wrap="square" rtlCol="0">
            <a:spAutoFit/>
          </a:bodyPr>
          <a:lstStyle/>
          <a:p>
            <a:r>
              <a:rPr lang="en-IN" dirty="0"/>
              <a:t>Core idea:</a:t>
            </a:r>
          </a:p>
        </p:txBody>
      </p:sp>
      <p:sp>
        <p:nvSpPr>
          <p:cNvPr id="5" name="TextBox 4">
            <a:extLst>
              <a:ext uri="{FF2B5EF4-FFF2-40B4-BE49-F238E27FC236}">
                <a16:creationId xmlns:a16="http://schemas.microsoft.com/office/drawing/2014/main" xmlns="" id="{A818C82D-FAB1-DB10-757E-43E2BA8F2818}"/>
              </a:ext>
            </a:extLst>
          </p:cNvPr>
          <p:cNvSpPr txBox="1"/>
          <p:nvPr/>
        </p:nvSpPr>
        <p:spPr>
          <a:xfrm>
            <a:off x="650240" y="952917"/>
            <a:ext cx="11013440"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proposed system is an </a:t>
            </a:r>
            <a:r>
              <a:rPr lang="en-US" b="1" dirty="0">
                <a:latin typeface="Times New Roman" panose="02020603050405020304" pitchFamily="18" charset="0"/>
                <a:cs typeface="Times New Roman" panose="02020603050405020304" pitchFamily="18" charset="0"/>
              </a:rPr>
              <a:t>AI-powered intelligent monitoring and control solution</a:t>
            </a:r>
            <a:r>
              <a:rPr lang="en-US" dirty="0">
                <a:latin typeface="Times New Roman" panose="02020603050405020304" pitchFamily="18" charset="0"/>
                <a:cs typeface="Times New Roman" panose="02020603050405020304" pitchFamily="18" charset="0"/>
              </a:rPr>
              <a:t> that enables </a:t>
            </a:r>
            <a:r>
              <a:rPr lang="en-US" b="1" dirty="0">
                <a:latin typeface="Times New Roman" panose="02020603050405020304" pitchFamily="18" charset="0"/>
                <a:cs typeface="Times New Roman" panose="02020603050405020304" pitchFamily="18" charset="0"/>
              </a:rPr>
              <a:t>predictive maintenance and energy optimization</a:t>
            </a:r>
            <a:r>
              <a:rPr lang="en-US" dirty="0">
                <a:latin typeface="Times New Roman" panose="02020603050405020304" pitchFamily="18" charset="0"/>
                <a:cs typeface="Times New Roman" panose="02020603050405020304" pitchFamily="18" charset="0"/>
              </a:rPr>
              <a:t> for tunnel ventilation systems. It continuously analyzes multi-sensor data to </a:t>
            </a:r>
            <a:r>
              <a:rPr lang="en-US" b="1" dirty="0">
                <a:latin typeface="Times New Roman" panose="02020603050405020304" pitchFamily="18" charset="0"/>
                <a:cs typeface="Times New Roman" panose="02020603050405020304" pitchFamily="18" charset="0"/>
              </a:rPr>
              <a:t>predict potential failures, optimize fan operation based on real-time environmental conditions, and provide explainable insights for decision-making</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D7F958A0-CFEA-8749-C96A-6A3BE77B083A}"/>
              </a:ext>
            </a:extLst>
          </p:cNvPr>
          <p:cNvSpPr txBox="1"/>
          <p:nvPr/>
        </p:nvSpPr>
        <p:spPr>
          <a:xfrm>
            <a:off x="528320" y="3028514"/>
            <a:ext cx="2062480" cy="369332"/>
          </a:xfrm>
          <a:prstGeom prst="rect">
            <a:avLst/>
          </a:prstGeom>
          <a:noFill/>
        </p:spPr>
        <p:txBody>
          <a:bodyPr wrap="square" rtlCol="0">
            <a:spAutoFit/>
          </a:bodyPr>
          <a:lstStyle/>
          <a:p>
            <a:r>
              <a:rPr lang="en-IN" dirty="0"/>
              <a:t>Key features:</a:t>
            </a:r>
          </a:p>
        </p:txBody>
      </p:sp>
      <p:sp>
        <p:nvSpPr>
          <p:cNvPr id="8" name="Rectangle 1">
            <a:extLst>
              <a:ext uri="{FF2B5EF4-FFF2-40B4-BE49-F238E27FC236}">
                <a16:creationId xmlns:a16="http://schemas.microsoft.com/office/drawing/2014/main" xmlns="" id="{E6AECE8C-2F42-0935-67F3-BED5038DBA84}"/>
              </a:ext>
            </a:extLst>
          </p:cNvPr>
          <p:cNvSpPr>
            <a:spLocks noChangeArrowheads="1"/>
          </p:cNvSpPr>
          <p:nvPr/>
        </p:nvSpPr>
        <p:spPr bwMode="auto">
          <a:xfrm>
            <a:off x="701040" y="3715645"/>
            <a:ext cx="9307997" cy="12003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Predictive Maintenance:</a:t>
            </a:r>
            <a:r>
              <a:rPr lang="en-US" altLang="en-US" dirty="0">
                <a:latin typeface="Times New Roman" panose="02020603050405020304" pitchFamily="18" charset="0"/>
                <a:cs typeface="Times New Roman" panose="02020603050405020304" pitchFamily="18" charset="0"/>
              </a:rPr>
              <a:t> Identifies anomalies in system behavior to prevent unexpected failures </a:t>
            </a:r>
          </a:p>
          <a:p>
            <a:pPr lvl="0" defTabSz="914400" eaLnBrk="0" fontAlgn="base" hangingPunct="0">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Energy Optimization:</a:t>
            </a:r>
            <a:r>
              <a:rPr lang="en-US" altLang="en-US" dirty="0">
                <a:latin typeface="Times New Roman" panose="02020603050405020304" pitchFamily="18" charset="0"/>
                <a:cs typeface="Times New Roman" panose="02020603050405020304" pitchFamily="18" charset="0"/>
              </a:rPr>
              <a:t> Adjusts fan speed dynamically based on air quality and traffic density </a:t>
            </a:r>
          </a:p>
          <a:p>
            <a:pPr lvl="0" defTabSz="914400" eaLnBrk="0" fontAlgn="base" hangingPunct="0">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Explainable AI (XAI):</a:t>
            </a:r>
            <a:r>
              <a:rPr lang="en-US" altLang="en-US" dirty="0">
                <a:latin typeface="Times New Roman" panose="02020603050405020304" pitchFamily="18" charset="0"/>
                <a:cs typeface="Times New Roman" panose="02020603050405020304" pitchFamily="18" charset="0"/>
              </a:rPr>
              <a:t> Provides clear insights into why a fault or decision is predicted </a:t>
            </a:r>
          </a:p>
          <a:p>
            <a:pPr lvl="0" defTabSz="914400" eaLnBrk="0" fontAlgn="base" hangingPunct="0">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Real-Time Monitoring:</a:t>
            </a:r>
            <a:r>
              <a:rPr lang="en-US" altLang="en-US" dirty="0">
                <a:latin typeface="Times New Roman" panose="02020603050405020304" pitchFamily="18" charset="0"/>
                <a:cs typeface="Times New Roman" panose="02020603050405020304" pitchFamily="18" charset="0"/>
              </a:rPr>
              <a:t> Enables continuous system tracking through a centralized dashboard </a:t>
            </a:r>
          </a:p>
        </p:txBody>
      </p:sp>
    </p:spTree>
    <p:extLst>
      <p:ext uri="{BB962C8B-B14F-4D97-AF65-F5344CB8AC3E}">
        <p14:creationId xmlns:p14="http://schemas.microsoft.com/office/powerpoint/2010/main" xmlns="" val="158357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32617815-331F-341B-FC1F-2E0B9BCB7672}"/>
              </a:ext>
            </a:extLst>
          </p:cNvPr>
          <p:cNvSpPr txBox="1"/>
          <p:nvPr/>
        </p:nvSpPr>
        <p:spPr>
          <a:xfrm>
            <a:off x="4166616" y="223520"/>
            <a:ext cx="3515360" cy="369332"/>
          </a:xfrm>
          <a:prstGeom prst="rect">
            <a:avLst/>
          </a:prstGeom>
          <a:noFill/>
        </p:spPr>
        <p:txBody>
          <a:bodyPr wrap="square" rtlCol="0">
            <a:spAutoFit/>
          </a:bodyPr>
          <a:lstStyle/>
          <a:p>
            <a:r>
              <a:rPr lang="en-IN" dirty="0"/>
              <a:t>Block diagram</a:t>
            </a:r>
          </a:p>
        </p:txBody>
      </p:sp>
      <p:sp>
        <p:nvSpPr>
          <p:cNvPr id="3" name="TextBox 2">
            <a:extLst>
              <a:ext uri="{FF2B5EF4-FFF2-40B4-BE49-F238E27FC236}">
                <a16:creationId xmlns:a16="http://schemas.microsoft.com/office/drawing/2014/main" xmlns="" id="{06CE10F1-2942-3693-C4BA-E2C6C5A5BB81}"/>
              </a:ext>
            </a:extLst>
          </p:cNvPr>
          <p:cNvSpPr txBox="1"/>
          <p:nvPr/>
        </p:nvSpPr>
        <p:spPr>
          <a:xfrm>
            <a:off x="3593592" y="1380744"/>
            <a:ext cx="3072384" cy="369332"/>
          </a:xfrm>
          <a:prstGeom prst="rect">
            <a:avLst/>
          </a:prstGeom>
          <a:noFill/>
        </p:spPr>
        <p:txBody>
          <a:bodyPr wrap="square" rtlCol="0">
            <a:spAutoFit/>
          </a:bodyPr>
          <a:lstStyle/>
          <a:p>
            <a:r>
              <a:rPr lang="en-IN" dirty="0"/>
              <a:t>To be pasted…..</a:t>
            </a:r>
          </a:p>
        </p:txBody>
      </p:sp>
    </p:spTree>
    <p:extLst>
      <p:ext uri="{BB962C8B-B14F-4D97-AF65-F5344CB8AC3E}">
        <p14:creationId xmlns:p14="http://schemas.microsoft.com/office/powerpoint/2010/main" xmlns="" val="752519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AEF5FE29-B09A-7B13-3857-0FB1540CC274}"/>
              </a:ext>
            </a:extLst>
          </p:cNvPr>
          <p:cNvSpPr txBox="1"/>
          <p:nvPr/>
        </p:nvSpPr>
        <p:spPr>
          <a:xfrm>
            <a:off x="111760" y="101600"/>
            <a:ext cx="2600960" cy="461665"/>
          </a:xfrm>
          <a:prstGeom prst="rect">
            <a:avLst/>
          </a:prstGeom>
          <a:noFill/>
        </p:spPr>
        <p:txBody>
          <a:bodyPr wrap="squar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Technical Details: </a:t>
            </a:r>
          </a:p>
        </p:txBody>
      </p:sp>
      <p:sp>
        <p:nvSpPr>
          <p:cNvPr id="3" name="TextBox 2">
            <a:extLst>
              <a:ext uri="{FF2B5EF4-FFF2-40B4-BE49-F238E27FC236}">
                <a16:creationId xmlns:a16="http://schemas.microsoft.com/office/drawing/2014/main" xmlns="" id="{7B293535-8D73-E0DA-2C57-EED6404DCDD3}"/>
              </a:ext>
            </a:extLst>
          </p:cNvPr>
          <p:cNvSpPr txBox="1"/>
          <p:nvPr/>
        </p:nvSpPr>
        <p:spPr>
          <a:xfrm>
            <a:off x="111760" y="563265"/>
            <a:ext cx="437896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System Architecture and technologies:</a:t>
            </a:r>
          </a:p>
        </p:txBody>
      </p:sp>
      <p:sp>
        <p:nvSpPr>
          <p:cNvPr id="4" name="TextBox 3">
            <a:extLst>
              <a:ext uri="{FF2B5EF4-FFF2-40B4-BE49-F238E27FC236}">
                <a16:creationId xmlns:a16="http://schemas.microsoft.com/office/drawing/2014/main" xmlns="" id="{1D9D5E46-9B32-AB56-B001-E23E589C5C01}"/>
              </a:ext>
            </a:extLst>
          </p:cNvPr>
          <p:cNvSpPr txBox="1"/>
          <p:nvPr/>
        </p:nvSpPr>
        <p:spPr>
          <a:xfrm>
            <a:off x="477520" y="932597"/>
            <a:ext cx="8849360"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system is designed using a combination of </a:t>
            </a:r>
            <a:r>
              <a:rPr lang="en-US" b="1" dirty="0">
                <a:latin typeface="Times New Roman" panose="02020603050405020304" pitchFamily="18" charset="0"/>
                <a:cs typeface="Times New Roman" panose="02020603050405020304" pitchFamily="18" charset="0"/>
              </a:rPr>
              <a:t>IoT, edge computing, and AI technologies</a:t>
            </a:r>
            <a:r>
              <a:rPr lang="en-US" dirty="0">
                <a:latin typeface="Times New Roman" panose="02020603050405020304" pitchFamily="18" charset="0"/>
                <a:cs typeface="Times New Roman" panose="02020603050405020304" pitchFamily="18" charset="0"/>
              </a:rPr>
              <a:t>, integrated with existing tunnel infrastructure for real-time monitoring and control.</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BC8EE147-D83B-3502-8D50-05B6691D8674}"/>
              </a:ext>
            </a:extLst>
          </p:cNvPr>
          <p:cNvSpPr txBox="1"/>
          <p:nvPr/>
        </p:nvSpPr>
        <p:spPr>
          <a:xfrm>
            <a:off x="195833" y="1773936"/>
            <a:ext cx="290576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Prototype implementation: </a:t>
            </a:r>
          </a:p>
        </p:txBody>
      </p:sp>
      <p:sp>
        <p:nvSpPr>
          <p:cNvPr id="8" name="Rectangle 1">
            <a:extLst>
              <a:ext uri="{FF2B5EF4-FFF2-40B4-BE49-F238E27FC236}">
                <a16:creationId xmlns:a16="http://schemas.microsoft.com/office/drawing/2014/main" xmlns="" id="{3F99E001-18AD-3726-CF6A-189BD0478DFD}"/>
              </a:ext>
            </a:extLst>
          </p:cNvPr>
          <p:cNvSpPr>
            <a:spLocks noChangeArrowheads="1"/>
          </p:cNvSpPr>
          <p:nvPr/>
        </p:nvSpPr>
        <p:spPr bwMode="auto">
          <a:xfrm>
            <a:off x="307593" y="2200716"/>
            <a:ext cx="10835082" cy="39703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dirty="0">
                <a:latin typeface="Times New Roman" panose="02020603050405020304" pitchFamily="18" charset="0"/>
                <a:cs typeface="Times New Roman" panose="02020603050405020304" pitchFamily="18" charset="0"/>
              </a:rPr>
              <a:t>To demonstrate feasibility, a scaled-down prototype is developed using cost-effective and accessible components:</a:t>
            </a:r>
            <a:endParaRPr lang="en-US" altLang="en-US" b="1"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Controller:</a:t>
            </a:r>
            <a:r>
              <a:rPr lang="en-US" altLang="en-US" dirty="0">
                <a:latin typeface="Times New Roman" panose="02020603050405020304" pitchFamily="18" charset="0"/>
                <a:cs typeface="Times New Roman" panose="02020603050405020304" pitchFamily="18" charset="0"/>
              </a:rPr>
              <a:t/>
            </a:r>
            <a:br>
              <a:rPr lang="en-US" altLang="en-US" dirty="0">
                <a:latin typeface="Times New Roman" panose="02020603050405020304" pitchFamily="18" charset="0"/>
                <a:cs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rPr>
              <a:t>ESP32</a:t>
            </a:r>
            <a:r>
              <a:rPr lang="en-US" altLang="en-US" dirty="0">
                <a:latin typeface="Times New Roman" panose="02020603050405020304" pitchFamily="18" charset="0"/>
                <a:cs typeface="Times New Roman" panose="02020603050405020304" pitchFamily="18" charset="0"/>
              </a:rPr>
              <a:t> for multi-sensor data acquisition, preprocessing, and communication </a:t>
            </a:r>
          </a:p>
          <a:p>
            <a:pPr lvl="0" defTabSz="914400" eaLnBrk="0" fontAlgn="base" hangingPunct="0">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Sensors:</a:t>
            </a:r>
            <a:r>
              <a:rPr lang="en-US" altLang="en-US" dirty="0">
                <a:latin typeface="Times New Roman" panose="02020603050405020304" pitchFamily="18" charset="0"/>
                <a:cs typeface="Times New Roman" panose="02020603050405020304" pitchFamily="18" charset="0"/>
              </a:rPr>
              <a:t> </a:t>
            </a:r>
          </a:p>
          <a:p>
            <a:pPr lvl="0" defTabSz="91440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Vibration Sensor: SW-420 / MPU6050 </a:t>
            </a:r>
          </a:p>
          <a:p>
            <a:pPr lvl="0" defTabSz="91440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Gas Sensors: MQ-7 (CO), MQ-135 (Air Quality) </a:t>
            </a:r>
          </a:p>
          <a:p>
            <a:pPr lvl="0" defTabSz="91440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Temperature &amp; Humidity: DHT22 </a:t>
            </a:r>
          </a:p>
          <a:p>
            <a:pPr lvl="0" defTabSz="91440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Current Sensor: ACS712 </a:t>
            </a:r>
          </a:p>
          <a:p>
            <a:pPr lvl="0" defTabSz="91440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Speed Measurement: IR sensor / Hall sensor </a:t>
            </a:r>
          </a:p>
          <a:p>
            <a:pPr lvl="0" defTabSz="914400" eaLnBrk="0" fontAlgn="base" hangingPunct="0">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Communication:</a:t>
            </a:r>
            <a:r>
              <a:rPr lang="en-US" altLang="en-US" dirty="0">
                <a:latin typeface="Times New Roman" panose="02020603050405020304" pitchFamily="18" charset="0"/>
                <a:cs typeface="Times New Roman" panose="02020603050405020304" pitchFamily="18" charset="0"/>
              </a:rPr>
              <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Wired or Wi-Fi-based communication (for demonstration purposes) to transmit data to processing unit </a:t>
            </a:r>
          </a:p>
          <a:p>
            <a:pPr lvl="0" defTabSz="914400" eaLnBrk="0" fontAlgn="base" hangingPunct="0">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Processing Unit:</a:t>
            </a:r>
            <a:r>
              <a:rPr lang="en-US" altLang="en-US" dirty="0">
                <a:latin typeface="Times New Roman" panose="02020603050405020304" pitchFamily="18" charset="0"/>
                <a:cs typeface="Times New Roman" panose="02020603050405020304" pitchFamily="18" charset="0"/>
              </a:rPr>
              <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Local system / laptop acting as a </a:t>
            </a:r>
            <a:r>
              <a:rPr lang="en-US" altLang="en-US" b="1" dirty="0">
                <a:latin typeface="Times New Roman" panose="02020603050405020304" pitchFamily="18" charset="0"/>
                <a:cs typeface="Times New Roman" panose="02020603050405020304" pitchFamily="18" charset="0"/>
              </a:rPr>
              <a:t>simulated AI server</a:t>
            </a:r>
            <a:r>
              <a:rPr lang="en-US" altLang="en-US" dirty="0">
                <a:latin typeface="Times New Roman" panose="02020603050405020304" pitchFamily="18" charset="0"/>
                <a:cs typeface="Times New Roman" panose="02020603050405020304" pitchFamily="18" charset="0"/>
              </a:rPr>
              <a:t>, where models are deployed for prediction and optimization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723747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774F2F65-939E-262F-C5C3-35A0434DFE7F}"/>
              </a:ext>
            </a:extLst>
          </p:cNvPr>
          <p:cNvSpPr txBox="1"/>
          <p:nvPr/>
        </p:nvSpPr>
        <p:spPr>
          <a:xfrm>
            <a:off x="450342" y="619774"/>
            <a:ext cx="6094476" cy="2308324"/>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Actuation System (Prototype)</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Fan Type:</a:t>
            </a:r>
            <a:r>
              <a:rPr lang="en-IN" dirty="0">
                <a:latin typeface="Times New Roman" panose="02020603050405020304" pitchFamily="18" charset="0"/>
                <a:cs typeface="Times New Roman" panose="02020603050405020304" pitchFamily="18" charset="0"/>
              </a:rPr>
              <a:t> 12V BLDC Fan (simulating tunnel ventilation fan) </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Operating Voltage:</a:t>
            </a:r>
            <a:r>
              <a:rPr lang="en-IN" dirty="0">
                <a:latin typeface="Times New Roman" panose="02020603050405020304" pitchFamily="18" charset="0"/>
                <a:cs typeface="Times New Roman" panose="02020603050405020304" pitchFamily="18" charset="0"/>
              </a:rPr>
              <a:t> 12V DC </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Speed Range:</a:t>
            </a:r>
            <a:r>
              <a:rPr lang="en-IN" dirty="0">
                <a:latin typeface="Times New Roman" panose="02020603050405020304" pitchFamily="18" charset="0"/>
                <a:cs typeface="Times New Roman" panose="02020603050405020304" pitchFamily="18" charset="0"/>
              </a:rPr>
              <a:t> 2000–4000 RPM </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Power Rating:</a:t>
            </a:r>
            <a:r>
              <a:rPr lang="en-IN" dirty="0">
                <a:latin typeface="Times New Roman" panose="02020603050405020304" pitchFamily="18" charset="0"/>
                <a:cs typeface="Times New Roman" panose="02020603050405020304" pitchFamily="18" charset="0"/>
              </a:rPr>
              <a:t> 2W–15W </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Control Method:</a:t>
            </a:r>
            <a:r>
              <a:rPr lang="en-IN" dirty="0">
                <a:latin typeface="Times New Roman" panose="02020603050405020304" pitchFamily="18" charset="0"/>
                <a:cs typeface="Times New Roman" panose="02020603050405020304" pitchFamily="18" charset="0"/>
              </a:rPr>
              <a:t> PWM-based speed control using ESP32 </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Purpose:</a:t>
            </a:r>
            <a:r>
              <a:rPr lang="en-IN" dirty="0">
                <a:latin typeface="Times New Roman" panose="02020603050405020304" pitchFamily="18" charset="0"/>
                <a:cs typeface="Times New Roman" panose="02020603050405020304" pitchFamily="18" charset="0"/>
              </a:rPr>
              <a:t> To simulate airflow and demonstrate dynamic speed control</a:t>
            </a:r>
          </a:p>
        </p:txBody>
      </p:sp>
    </p:spTree>
    <p:extLst>
      <p:ext uri="{BB962C8B-B14F-4D97-AF65-F5344CB8AC3E}">
        <p14:creationId xmlns:p14="http://schemas.microsoft.com/office/powerpoint/2010/main" xmlns="" val="1783127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F1E2C7B9-DFC4-D116-CBF2-56EBD0F75D67}"/>
              </a:ext>
            </a:extLst>
          </p:cNvPr>
          <p:cNvSpPr txBox="1"/>
          <p:nvPr/>
        </p:nvSpPr>
        <p:spPr>
          <a:xfrm>
            <a:off x="173736" y="118872"/>
            <a:ext cx="2496312" cy="461665"/>
          </a:xfrm>
          <a:prstGeom prst="rect">
            <a:avLst/>
          </a:prstGeom>
          <a:noFill/>
        </p:spPr>
        <p:txBody>
          <a:bodyPr wrap="squar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Innovation</a:t>
            </a:r>
          </a:p>
        </p:txBody>
      </p:sp>
      <p:sp>
        <p:nvSpPr>
          <p:cNvPr id="4" name="TextBox 3">
            <a:extLst>
              <a:ext uri="{FF2B5EF4-FFF2-40B4-BE49-F238E27FC236}">
                <a16:creationId xmlns:a16="http://schemas.microsoft.com/office/drawing/2014/main" xmlns="" id="{8065FF4D-3356-164E-D31E-09DAA702F1C9}"/>
              </a:ext>
            </a:extLst>
          </p:cNvPr>
          <p:cNvSpPr txBox="1"/>
          <p:nvPr/>
        </p:nvSpPr>
        <p:spPr>
          <a:xfrm>
            <a:off x="697230" y="1368243"/>
            <a:ext cx="6094476" cy="2862322"/>
          </a:xfrm>
          <a:prstGeom prst="rect">
            <a:avLst/>
          </a:prstGeom>
          <a:noFill/>
        </p:spPr>
        <p:txBody>
          <a:bodyPr wrap="square">
            <a:spAutoFit/>
          </a:bodyPr>
          <a:lstStyle/>
          <a:p>
            <a:pPr>
              <a:buNone/>
            </a:pPr>
            <a:r>
              <a:rPr lang="en-IN" b="1" dirty="0"/>
              <a:t> Unique Aspects:</a:t>
            </a:r>
          </a:p>
          <a:p>
            <a:pPr>
              <a:buFont typeface="Arial" panose="020B0604020202020204" pitchFamily="34" charset="0"/>
              <a:buChar char="•"/>
            </a:pPr>
            <a:r>
              <a:rPr lang="en-IN" dirty="0"/>
              <a:t>Explainable AI → Not just prediction, but </a:t>
            </a:r>
            <a:r>
              <a:rPr lang="en-IN" b="1" dirty="0"/>
              <a:t>WHY failure occurs</a:t>
            </a:r>
            <a:r>
              <a:rPr lang="en-IN" dirty="0"/>
              <a:t> </a:t>
            </a:r>
          </a:p>
          <a:p>
            <a:pPr>
              <a:buFont typeface="Arial" panose="020B0604020202020204" pitchFamily="34" charset="0"/>
              <a:buChar char="•"/>
            </a:pPr>
            <a:r>
              <a:rPr lang="en-IN" dirty="0"/>
              <a:t>Multi-sensor fusion → higher accuracy </a:t>
            </a:r>
          </a:p>
          <a:p>
            <a:pPr>
              <a:buFont typeface="Arial" panose="020B0604020202020204" pitchFamily="34" charset="0"/>
              <a:buChar char="•"/>
            </a:pPr>
            <a:r>
              <a:rPr lang="en-IN" dirty="0"/>
              <a:t>Real-time energy optimization (not static control) </a:t>
            </a:r>
          </a:p>
          <a:p>
            <a:pPr>
              <a:buNone/>
            </a:pPr>
            <a:endParaRPr lang="en-IN" b="1" dirty="0"/>
          </a:p>
          <a:p>
            <a:pPr>
              <a:buNone/>
            </a:pPr>
            <a:r>
              <a:rPr lang="en-IN" b="1" dirty="0"/>
              <a:t>Novelty:</a:t>
            </a:r>
          </a:p>
          <a:p>
            <a:pPr>
              <a:buFont typeface="Arial" panose="020B0604020202020204" pitchFamily="34" charset="0"/>
              <a:buChar char="•"/>
            </a:pPr>
            <a:r>
              <a:rPr lang="en-IN" dirty="0"/>
              <a:t>Combines: </a:t>
            </a:r>
          </a:p>
          <a:p>
            <a:pPr marL="742950" lvl="1" indent="-285750">
              <a:buFont typeface="Arial" panose="020B0604020202020204" pitchFamily="34" charset="0"/>
              <a:buChar char="•"/>
            </a:pPr>
            <a:r>
              <a:rPr lang="en-IN" dirty="0"/>
              <a:t>Predictive maintenance </a:t>
            </a:r>
          </a:p>
          <a:p>
            <a:pPr marL="742950" lvl="1" indent="-285750">
              <a:buFont typeface="Arial" panose="020B0604020202020204" pitchFamily="34" charset="0"/>
              <a:buChar char="•"/>
            </a:pPr>
            <a:r>
              <a:rPr lang="en-IN" dirty="0"/>
              <a:t>Energy optimization </a:t>
            </a:r>
          </a:p>
          <a:p>
            <a:pPr marL="742950" lvl="1" indent="-285750">
              <a:buFont typeface="Arial" panose="020B0604020202020204" pitchFamily="34" charset="0"/>
              <a:buChar char="•"/>
            </a:pPr>
            <a:r>
              <a:rPr lang="en-IN" dirty="0"/>
              <a:t>XAI → rare in this domain</a:t>
            </a:r>
          </a:p>
        </p:txBody>
      </p:sp>
    </p:spTree>
    <p:extLst>
      <p:ext uri="{BB962C8B-B14F-4D97-AF65-F5344CB8AC3E}">
        <p14:creationId xmlns:p14="http://schemas.microsoft.com/office/powerpoint/2010/main" xmlns="" val="680806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685971EF-AA97-99D6-C782-977E54EEB29F}"/>
              </a:ext>
            </a:extLst>
          </p:cNvPr>
          <p:cNvSpPr txBox="1"/>
          <p:nvPr/>
        </p:nvSpPr>
        <p:spPr>
          <a:xfrm>
            <a:off x="173736" y="164592"/>
            <a:ext cx="3200400" cy="461665"/>
          </a:xfrm>
          <a:prstGeom prst="rect">
            <a:avLst/>
          </a:prstGeom>
          <a:noFill/>
        </p:spPr>
        <p:txBody>
          <a:bodyPr wrap="squar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Market Potential:</a:t>
            </a:r>
          </a:p>
        </p:txBody>
      </p:sp>
      <p:sp>
        <p:nvSpPr>
          <p:cNvPr id="4" name="TextBox 3">
            <a:extLst>
              <a:ext uri="{FF2B5EF4-FFF2-40B4-BE49-F238E27FC236}">
                <a16:creationId xmlns:a16="http://schemas.microsoft.com/office/drawing/2014/main" xmlns="" id="{98F3A096-F0BB-5E1B-DE90-51D555E76F58}"/>
              </a:ext>
            </a:extLst>
          </p:cNvPr>
          <p:cNvSpPr txBox="1"/>
          <p:nvPr/>
        </p:nvSpPr>
        <p:spPr>
          <a:xfrm>
            <a:off x="1273302" y="1227064"/>
            <a:ext cx="6094476" cy="3416320"/>
          </a:xfrm>
          <a:prstGeom prst="rect">
            <a:avLst/>
          </a:prstGeom>
          <a:noFill/>
        </p:spPr>
        <p:txBody>
          <a:bodyPr wrap="square">
            <a:spAutoFit/>
          </a:bodyPr>
          <a:lstStyle/>
          <a:p>
            <a:pPr>
              <a:buNone/>
            </a:pPr>
            <a:r>
              <a:rPr lang="en-IN" b="1" dirty="0"/>
              <a:t>🌍 Market Data:</a:t>
            </a:r>
          </a:p>
          <a:p>
            <a:pPr>
              <a:buFont typeface="Arial" panose="020B0604020202020204" pitchFamily="34" charset="0"/>
              <a:buChar char="•"/>
            </a:pPr>
            <a:r>
              <a:rPr lang="en-IN" dirty="0"/>
              <a:t>Global Predictive Maintenance Market:</a:t>
            </a:r>
            <a:br>
              <a:rPr lang="en-IN" dirty="0"/>
            </a:br>
            <a:r>
              <a:rPr lang="en-IN" dirty="0"/>
              <a:t>→ </a:t>
            </a:r>
            <a:r>
              <a:rPr lang="en-IN" b="1" dirty="0"/>
              <a:t>$10B+ by 2030</a:t>
            </a:r>
            <a:r>
              <a:rPr lang="en-IN" dirty="0"/>
              <a:t> </a:t>
            </a:r>
          </a:p>
          <a:p>
            <a:pPr>
              <a:buFont typeface="Arial" panose="020B0604020202020204" pitchFamily="34" charset="0"/>
              <a:buChar char="•"/>
            </a:pPr>
            <a:r>
              <a:rPr lang="en-IN" dirty="0"/>
              <a:t>Smart Infrastructure Growth:</a:t>
            </a:r>
            <a:br>
              <a:rPr lang="en-IN" dirty="0"/>
            </a:br>
            <a:r>
              <a:rPr lang="en-IN" dirty="0"/>
              <a:t>→ CAGR ~ </a:t>
            </a:r>
            <a:r>
              <a:rPr lang="en-IN" b="1" dirty="0"/>
              <a:t>12–15%</a:t>
            </a:r>
            <a:r>
              <a:rPr lang="en-IN" dirty="0"/>
              <a:t> </a:t>
            </a:r>
          </a:p>
          <a:p>
            <a:pPr>
              <a:buNone/>
            </a:pPr>
            <a:r>
              <a:rPr lang="en-IN" b="1" dirty="0"/>
              <a:t>🏭 Target Market:</a:t>
            </a:r>
          </a:p>
          <a:p>
            <a:pPr>
              <a:buFont typeface="Arial" panose="020B0604020202020204" pitchFamily="34" charset="0"/>
              <a:buChar char="•"/>
            </a:pPr>
            <a:r>
              <a:rPr lang="en-IN" dirty="0"/>
              <a:t>Tunnel Infrastructure </a:t>
            </a:r>
          </a:p>
          <a:p>
            <a:pPr>
              <a:buFont typeface="Arial" panose="020B0604020202020204" pitchFamily="34" charset="0"/>
              <a:buChar char="•"/>
            </a:pPr>
            <a:r>
              <a:rPr lang="en-IN" dirty="0"/>
              <a:t>Smart Cities </a:t>
            </a:r>
          </a:p>
          <a:p>
            <a:pPr>
              <a:buFont typeface="Arial" panose="020B0604020202020204" pitchFamily="34" charset="0"/>
              <a:buChar char="•"/>
            </a:pPr>
            <a:r>
              <a:rPr lang="en-IN" dirty="0"/>
              <a:t>Industrial ventilation systems </a:t>
            </a:r>
          </a:p>
          <a:p>
            <a:pPr>
              <a:buNone/>
            </a:pPr>
            <a:r>
              <a:rPr lang="en-IN" b="1" dirty="0"/>
              <a:t>💰 Opportunity:</a:t>
            </a:r>
          </a:p>
          <a:p>
            <a:pPr>
              <a:buFont typeface="Arial" panose="020B0604020202020204" pitchFamily="34" charset="0"/>
              <a:buChar char="•"/>
            </a:pPr>
            <a:r>
              <a:rPr lang="en-IN" dirty="0"/>
              <a:t>Reduces operational cost significantly → high adoption potential</a:t>
            </a:r>
          </a:p>
        </p:txBody>
      </p:sp>
    </p:spTree>
    <p:extLst>
      <p:ext uri="{BB962C8B-B14F-4D97-AF65-F5344CB8AC3E}">
        <p14:creationId xmlns:p14="http://schemas.microsoft.com/office/powerpoint/2010/main" xmlns="" val="2338515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C6CC5584-4008-5D92-FB88-7FAA6B61F2D3}"/>
              </a:ext>
            </a:extLst>
          </p:cNvPr>
          <p:cNvSpPr txBox="1"/>
          <p:nvPr/>
        </p:nvSpPr>
        <p:spPr>
          <a:xfrm>
            <a:off x="118872" y="205633"/>
            <a:ext cx="3502152" cy="461665"/>
          </a:xfrm>
          <a:prstGeom prst="rect">
            <a:avLst/>
          </a:prstGeom>
          <a:noFill/>
        </p:spPr>
        <p:txBody>
          <a:bodyPr wrap="squar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Primary benefits: </a:t>
            </a:r>
          </a:p>
        </p:txBody>
      </p:sp>
      <p:sp>
        <p:nvSpPr>
          <p:cNvPr id="3" name="TextBox 2">
            <a:extLst>
              <a:ext uri="{FF2B5EF4-FFF2-40B4-BE49-F238E27FC236}">
                <a16:creationId xmlns:a16="http://schemas.microsoft.com/office/drawing/2014/main" xmlns="" id="{403B9722-3825-344C-3E4D-43B3B7FE3690}"/>
              </a:ext>
            </a:extLst>
          </p:cNvPr>
          <p:cNvSpPr txBox="1"/>
          <p:nvPr/>
        </p:nvSpPr>
        <p:spPr>
          <a:xfrm>
            <a:off x="521208" y="676656"/>
            <a:ext cx="4654296" cy="2308324"/>
          </a:xfrm>
          <a:prstGeom prst="rect">
            <a:avLst/>
          </a:prstGeom>
          <a:noFill/>
        </p:spPr>
        <p:txBody>
          <a:bodyPr wrap="square" rtlCol="0">
            <a:spAutoFit/>
          </a:bodyPr>
          <a:lstStyle/>
          <a:p>
            <a:r>
              <a:rPr lang="en-US" b="1" dirty="0"/>
              <a:t>✅ Key Advantages:</a:t>
            </a:r>
          </a:p>
          <a:p>
            <a:r>
              <a:rPr lang="en-US" dirty="0"/>
              <a:t>40% energy savings </a:t>
            </a:r>
          </a:p>
          <a:p>
            <a:r>
              <a:rPr lang="en-US" dirty="0"/>
              <a:t>30% reduction in maintenance cost </a:t>
            </a:r>
          </a:p>
          <a:p>
            <a:r>
              <a:rPr lang="en-US" dirty="0"/>
              <a:t>Increased equipment lifespan </a:t>
            </a:r>
          </a:p>
          <a:p>
            <a:r>
              <a:rPr lang="en-US" b="1" dirty="0"/>
              <a:t>📊 Metrics:</a:t>
            </a:r>
          </a:p>
          <a:p>
            <a:r>
              <a:rPr lang="en-US" dirty="0"/>
              <a:t>Failure prediction accuracy: ~85–90% </a:t>
            </a:r>
          </a:p>
          <a:p>
            <a:r>
              <a:rPr lang="en-US" dirty="0"/>
              <a:t>Downtime reduction: ~25%</a:t>
            </a:r>
          </a:p>
          <a:p>
            <a:endParaRPr lang="en-IN" dirty="0"/>
          </a:p>
        </p:txBody>
      </p:sp>
    </p:spTree>
    <p:extLst>
      <p:ext uri="{BB962C8B-B14F-4D97-AF65-F5344CB8AC3E}">
        <p14:creationId xmlns:p14="http://schemas.microsoft.com/office/powerpoint/2010/main" xmlns="" val="8996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02D4063D-FFB9-8D93-DC1F-81468FA8ECAB}"/>
              </a:ext>
            </a:extLst>
          </p:cNvPr>
          <p:cNvSpPr txBox="1"/>
          <p:nvPr/>
        </p:nvSpPr>
        <p:spPr>
          <a:xfrm>
            <a:off x="998982" y="664155"/>
            <a:ext cx="6094476" cy="2308324"/>
          </a:xfrm>
          <a:prstGeom prst="rect">
            <a:avLst/>
          </a:prstGeom>
          <a:noFill/>
        </p:spPr>
        <p:txBody>
          <a:bodyPr wrap="square">
            <a:spAutoFit/>
          </a:bodyPr>
          <a:lstStyle/>
          <a:p>
            <a:pPr>
              <a:buFont typeface="Arial" panose="020B0604020202020204" pitchFamily="34" charset="0"/>
              <a:buChar char="•"/>
            </a:pPr>
            <a:r>
              <a:rPr lang="en-US" dirty="0"/>
              <a:t>Adaptive fan control based on environment </a:t>
            </a:r>
          </a:p>
          <a:p>
            <a:pPr>
              <a:buFont typeface="Arial" panose="020B0604020202020204" pitchFamily="34" charset="0"/>
              <a:buChar char="•"/>
            </a:pPr>
            <a:r>
              <a:rPr lang="en-US" dirty="0"/>
              <a:t>Works in: </a:t>
            </a:r>
          </a:p>
          <a:p>
            <a:pPr marL="742950" lvl="1" indent="-285750">
              <a:buFont typeface="Arial" panose="020B0604020202020204" pitchFamily="34" charset="0"/>
              <a:buChar char="•"/>
            </a:pPr>
            <a:r>
              <a:rPr lang="en-US" dirty="0"/>
              <a:t>Tunnels </a:t>
            </a:r>
          </a:p>
          <a:p>
            <a:pPr marL="742950" lvl="1" indent="-285750">
              <a:buFont typeface="Arial" panose="020B0604020202020204" pitchFamily="34" charset="0"/>
              <a:buChar char="•"/>
            </a:pPr>
            <a:r>
              <a:rPr lang="en-US" dirty="0"/>
              <a:t>Mines </a:t>
            </a:r>
          </a:p>
          <a:p>
            <a:pPr marL="742950" lvl="1" indent="-285750">
              <a:buFont typeface="Arial" panose="020B0604020202020204" pitchFamily="34" charset="0"/>
              <a:buChar char="•"/>
            </a:pPr>
            <a:r>
              <a:rPr lang="en-US" dirty="0"/>
              <a:t>Industrial HVAC </a:t>
            </a:r>
          </a:p>
          <a:p>
            <a:pPr>
              <a:buFont typeface="Arial" panose="020B0604020202020204" pitchFamily="34" charset="0"/>
              <a:buChar char="•"/>
            </a:pPr>
            <a:r>
              <a:rPr lang="en-US" dirty="0"/>
              <a:t>Flexible deployment: </a:t>
            </a:r>
          </a:p>
          <a:p>
            <a:pPr marL="742950" lvl="1" indent="-285750">
              <a:buFont typeface="Arial" panose="020B0604020202020204" pitchFamily="34" charset="0"/>
              <a:buChar char="•"/>
            </a:pPr>
            <a:r>
              <a:rPr lang="en-US" dirty="0"/>
              <a:t>Edge + Cloud </a:t>
            </a:r>
          </a:p>
          <a:p>
            <a:pPr marL="742950" lvl="1" indent="-285750">
              <a:buFont typeface="Arial" panose="020B0604020202020204" pitchFamily="34" charset="0"/>
              <a:buChar char="•"/>
            </a:pPr>
            <a:r>
              <a:rPr lang="en-US" dirty="0"/>
              <a:t>Scalable architecture</a:t>
            </a:r>
          </a:p>
        </p:txBody>
      </p:sp>
      <p:sp>
        <p:nvSpPr>
          <p:cNvPr id="5" name="TextBox 4">
            <a:extLst>
              <a:ext uri="{FF2B5EF4-FFF2-40B4-BE49-F238E27FC236}">
                <a16:creationId xmlns:a16="http://schemas.microsoft.com/office/drawing/2014/main" xmlns="" id="{CF168985-201C-010B-0AA4-00E9EDDFE29B}"/>
              </a:ext>
            </a:extLst>
          </p:cNvPr>
          <p:cNvSpPr txBox="1"/>
          <p:nvPr/>
        </p:nvSpPr>
        <p:spPr>
          <a:xfrm>
            <a:off x="203454" y="117086"/>
            <a:ext cx="6094476" cy="400110"/>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Efficiency &amp; Flexibility</a:t>
            </a:r>
          </a:p>
        </p:txBody>
      </p:sp>
    </p:spTree>
    <p:extLst>
      <p:ext uri="{BB962C8B-B14F-4D97-AF65-F5344CB8AC3E}">
        <p14:creationId xmlns:p14="http://schemas.microsoft.com/office/powerpoint/2010/main" xmlns="" val="3182844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9EBF6B46-9BF0-5FD9-97CA-F9D65289DF2D}"/>
              </a:ext>
            </a:extLst>
          </p:cNvPr>
          <p:cNvSpPr txBox="1"/>
          <p:nvPr/>
        </p:nvSpPr>
        <p:spPr>
          <a:xfrm>
            <a:off x="806958" y="977730"/>
            <a:ext cx="6094476" cy="1754326"/>
          </a:xfrm>
          <a:prstGeom prst="rect">
            <a:avLst/>
          </a:prstGeom>
          <a:noFill/>
        </p:spPr>
        <p:txBody>
          <a:bodyPr wrap="square">
            <a:spAutoFit/>
          </a:bodyPr>
          <a:lstStyle/>
          <a:p>
            <a:pPr>
              <a:buNone/>
            </a:pPr>
            <a:r>
              <a:rPr lang="en-US" b="1" dirty="0"/>
              <a:t>💰 Savings:</a:t>
            </a:r>
          </a:p>
          <a:p>
            <a:pPr>
              <a:buFont typeface="Arial" panose="020B0604020202020204" pitchFamily="34" charset="0"/>
              <a:buChar char="•"/>
            </a:pPr>
            <a:r>
              <a:rPr lang="en-US" dirty="0"/>
              <a:t>Energy cost reduced significantly </a:t>
            </a:r>
          </a:p>
          <a:p>
            <a:pPr>
              <a:buFont typeface="Arial" panose="020B0604020202020204" pitchFamily="34" charset="0"/>
              <a:buChar char="•"/>
            </a:pPr>
            <a:r>
              <a:rPr lang="en-US" dirty="0"/>
              <a:t>Less manual inspection </a:t>
            </a:r>
          </a:p>
          <a:p>
            <a:pPr>
              <a:buNone/>
            </a:pPr>
            <a:r>
              <a:rPr lang="en-US" b="1" dirty="0"/>
              <a:t>⏳ Time Benefits:</a:t>
            </a:r>
          </a:p>
          <a:p>
            <a:pPr>
              <a:buFont typeface="Arial" panose="020B0604020202020204" pitchFamily="34" charset="0"/>
              <a:buChar char="•"/>
            </a:pPr>
            <a:r>
              <a:rPr lang="en-US" dirty="0"/>
              <a:t>Real-time alerts </a:t>
            </a:r>
          </a:p>
          <a:p>
            <a:pPr>
              <a:buFont typeface="Arial" panose="020B0604020202020204" pitchFamily="34" charset="0"/>
              <a:buChar char="•"/>
            </a:pPr>
            <a:r>
              <a:rPr lang="en-US" dirty="0"/>
              <a:t>Faster decision making</a:t>
            </a:r>
          </a:p>
        </p:txBody>
      </p:sp>
      <p:sp>
        <p:nvSpPr>
          <p:cNvPr id="5" name="TextBox 4">
            <a:extLst>
              <a:ext uri="{FF2B5EF4-FFF2-40B4-BE49-F238E27FC236}">
                <a16:creationId xmlns:a16="http://schemas.microsoft.com/office/drawing/2014/main" xmlns="" id="{EC140491-FD01-335B-623B-419F0A3FD944}"/>
              </a:ext>
            </a:extLst>
          </p:cNvPr>
          <p:cNvSpPr txBox="1"/>
          <p:nvPr/>
        </p:nvSpPr>
        <p:spPr>
          <a:xfrm>
            <a:off x="139446" y="162806"/>
            <a:ext cx="6094476" cy="400110"/>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Time &amp; Cost Saving</a:t>
            </a:r>
          </a:p>
        </p:txBody>
      </p:sp>
    </p:spTree>
    <p:extLst>
      <p:ext uri="{BB962C8B-B14F-4D97-AF65-F5344CB8AC3E}">
        <p14:creationId xmlns:p14="http://schemas.microsoft.com/office/powerpoint/2010/main" xmlns="" val="2083287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3A8C7AEA-4E5A-A116-CF86-CFC49F0DFF88}"/>
              </a:ext>
            </a:extLst>
          </p:cNvPr>
          <p:cNvSpPr txBox="1"/>
          <p:nvPr/>
        </p:nvSpPr>
        <p:spPr>
          <a:xfrm>
            <a:off x="1227582" y="595021"/>
            <a:ext cx="6094476" cy="1477328"/>
          </a:xfrm>
          <a:prstGeom prst="rect">
            <a:avLst/>
          </a:prstGeom>
          <a:noFill/>
        </p:spPr>
        <p:txBody>
          <a:bodyPr wrap="square">
            <a:spAutoFit/>
          </a:bodyPr>
          <a:lstStyle/>
          <a:p>
            <a:pPr>
              <a:buFont typeface="Arial" panose="020B0604020202020204" pitchFamily="34" charset="0"/>
              <a:buChar char="•"/>
            </a:pPr>
            <a:r>
              <a:rPr lang="en-US" dirty="0"/>
              <a:t>Easily scalable to: </a:t>
            </a:r>
          </a:p>
          <a:p>
            <a:pPr marL="742950" lvl="1" indent="-285750">
              <a:buFont typeface="Arial" panose="020B0604020202020204" pitchFamily="34" charset="0"/>
              <a:buChar char="•"/>
            </a:pPr>
            <a:r>
              <a:rPr lang="en-US" dirty="0"/>
              <a:t>Multiple tunnels </a:t>
            </a:r>
          </a:p>
          <a:p>
            <a:pPr marL="742950" lvl="1" indent="-285750">
              <a:buFont typeface="Arial" panose="020B0604020202020204" pitchFamily="34" charset="0"/>
              <a:buChar char="•"/>
            </a:pPr>
            <a:r>
              <a:rPr lang="en-US" dirty="0"/>
              <a:t>Smart cities </a:t>
            </a:r>
          </a:p>
          <a:p>
            <a:pPr>
              <a:buFont typeface="Arial" panose="020B0604020202020204" pitchFamily="34" charset="0"/>
              <a:buChar char="•"/>
            </a:pPr>
            <a:r>
              <a:rPr lang="en-US" dirty="0"/>
              <a:t>Cloud-based architecture </a:t>
            </a:r>
          </a:p>
          <a:p>
            <a:pPr>
              <a:buFont typeface="Arial" panose="020B0604020202020204" pitchFamily="34" charset="0"/>
              <a:buChar char="•"/>
            </a:pPr>
            <a:r>
              <a:rPr lang="en-US" dirty="0"/>
              <a:t>Plug-and-play sensor model</a:t>
            </a:r>
          </a:p>
        </p:txBody>
      </p:sp>
      <p:sp>
        <p:nvSpPr>
          <p:cNvPr id="5" name="TextBox 4">
            <a:extLst>
              <a:ext uri="{FF2B5EF4-FFF2-40B4-BE49-F238E27FC236}">
                <a16:creationId xmlns:a16="http://schemas.microsoft.com/office/drawing/2014/main" xmlns="" id="{EC74E05F-905E-E0E0-7631-C6815B21942A}"/>
              </a:ext>
            </a:extLst>
          </p:cNvPr>
          <p:cNvSpPr txBox="1"/>
          <p:nvPr/>
        </p:nvSpPr>
        <p:spPr>
          <a:xfrm>
            <a:off x="294894" y="225689"/>
            <a:ext cx="6094476" cy="400110"/>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Scalability</a:t>
            </a:r>
          </a:p>
        </p:txBody>
      </p:sp>
    </p:spTree>
    <p:extLst>
      <p:ext uri="{BB962C8B-B14F-4D97-AF65-F5344CB8AC3E}">
        <p14:creationId xmlns:p14="http://schemas.microsoft.com/office/powerpoint/2010/main" xmlns="" val="1814916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00EEE07-1FDB-9DF6-2D48-8BDEA94BBC35}"/>
              </a:ext>
            </a:extLst>
          </p:cNvPr>
          <p:cNvSpPr txBox="1"/>
          <p:nvPr/>
        </p:nvSpPr>
        <p:spPr>
          <a:xfrm>
            <a:off x="3047238" y="2274838"/>
            <a:ext cx="6094476" cy="2031325"/>
          </a:xfrm>
          <a:prstGeom prst="rect">
            <a:avLst/>
          </a:prstGeom>
          <a:noFill/>
        </p:spPr>
        <p:txBody>
          <a:bodyPr wrap="square">
            <a:spAutoFit/>
          </a:bodyPr>
          <a:lstStyle/>
          <a:p>
            <a:pPr>
              <a:buNone/>
            </a:pPr>
            <a:r>
              <a:rPr lang="en-IN" b="1" dirty="0"/>
              <a:t>🌍 Impact:</a:t>
            </a:r>
          </a:p>
          <a:p>
            <a:pPr>
              <a:buFont typeface="Arial" panose="020B0604020202020204" pitchFamily="34" charset="0"/>
              <a:buChar char="•"/>
            </a:pPr>
            <a:r>
              <a:rPr lang="en-IN" dirty="0"/>
              <a:t>Improved air quality </a:t>
            </a:r>
          </a:p>
          <a:p>
            <a:pPr>
              <a:buFont typeface="Arial" panose="020B0604020202020204" pitchFamily="34" charset="0"/>
              <a:buChar char="•"/>
            </a:pPr>
            <a:r>
              <a:rPr lang="en-IN" dirty="0"/>
              <a:t>Reduced emissions </a:t>
            </a:r>
          </a:p>
          <a:p>
            <a:pPr>
              <a:buFont typeface="Arial" panose="020B0604020202020204" pitchFamily="34" charset="0"/>
              <a:buChar char="•"/>
            </a:pPr>
            <a:r>
              <a:rPr lang="en-IN" dirty="0"/>
              <a:t>Increased public safety </a:t>
            </a:r>
          </a:p>
          <a:p>
            <a:pPr>
              <a:buNone/>
            </a:pPr>
            <a:r>
              <a:rPr lang="en-IN" b="1" dirty="0"/>
              <a:t>👨‍👩‍👧‍👦 Benefits:</a:t>
            </a:r>
          </a:p>
          <a:p>
            <a:pPr>
              <a:buFont typeface="Arial" panose="020B0604020202020204" pitchFamily="34" charset="0"/>
              <a:buChar char="•"/>
            </a:pPr>
            <a:r>
              <a:rPr lang="en-IN" dirty="0"/>
              <a:t>Healthier environment for commuters </a:t>
            </a:r>
          </a:p>
          <a:p>
            <a:pPr>
              <a:buFont typeface="Arial" panose="020B0604020202020204" pitchFamily="34" charset="0"/>
              <a:buChar char="•"/>
            </a:pPr>
            <a:r>
              <a:rPr lang="en-IN" dirty="0"/>
              <a:t>Supports sustainable infrastructure</a:t>
            </a:r>
          </a:p>
        </p:txBody>
      </p:sp>
      <p:sp>
        <p:nvSpPr>
          <p:cNvPr id="5" name="TextBox 4">
            <a:extLst>
              <a:ext uri="{FF2B5EF4-FFF2-40B4-BE49-F238E27FC236}">
                <a16:creationId xmlns:a16="http://schemas.microsoft.com/office/drawing/2014/main" xmlns="" id="{D1518E2B-A34D-D343-DD44-BC75B322CF8D}"/>
              </a:ext>
            </a:extLst>
          </p:cNvPr>
          <p:cNvSpPr txBox="1"/>
          <p:nvPr/>
        </p:nvSpPr>
        <p:spPr>
          <a:xfrm>
            <a:off x="194310" y="181094"/>
            <a:ext cx="6094476" cy="400110"/>
          </a:xfrm>
          <a:prstGeom prst="rect">
            <a:avLst/>
          </a:prstGeom>
          <a:noFill/>
        </p:spPr>
        <p:txBody>
          <a:bodyPr wrap="square">
            <a:spAutoFit/>
          </a:bodyPr>
          <a:lstStyle/>
          <a:p>
            <a:pPr>
              <a:buNone/>
            </a:pPr>
            <a:r>
              <a:rPr lang="en-IN" sz="2000" b="1" dirty="0">
                <a:solidFill>
                  <a:srgbClr val="FF0000"/>
                </a:solidFill>
                <a:latin typeface="Times New Roman" panose="02020603050405020304" pitchFamily="18" charset="0"/>
                <a:cs typeface="Times New Roman" panose="02020603050405020304" pitchFamily="18" charset="0"/>
              </a:rPr>
              <a:t>Social Impact</a:t>
            </a:r>
          </a:p>
        </p:txBody>
      </p:sp>
    </p:spTree>
    <p:extLst>
      <p:ext uri="{BB962C8B-B14F-4D97-AF65-F5344CB8AC3E}">
        <p14:creationId xmlns:p14="http://schemas.microsoft.com/office/powerpoint/2010/main" xmlns="" val="125987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34CCADE8-EDAA-E275-2E75-DC3561AB7244}"/>
              </a:ext>
            </a:extLst>
          </p:cNvPr>
          <p:cNvSpPr txBox="1"/>
          <p:nvPr/>
        </p:nvSpPr>
        <p:spPr>
          <a:xfrm>
            <a:off x="1373886" y="809119"/>
            <a:ext cx="6094476" cy="2585323"/>
          </a:xfrm>
          <a:prstGeom prst="rect">
            <a:avLst/>
          </a:prstGeom>
          <a:noFill/>
        </p:spPr>
        <p:txBody>
          <a:bodyPr wrap="square">
            <a:spAutoFit/>
          </a:bodyPr>
          <a:lstStyle/>
          <a:p>
            <a:pPr>
              <a:buNone/>
            </a:pPr>
            <a:r>
              <a:rPr lang="en-IN" b="1" dirty="0"/>
              <a:t>💰 Cost Estimate (Prototype):</a:t>
            </a:r>
          </a:p>
          <a:p>
            <a:pPr>
              <a:buFont typeface="Arial" panose="020B0604020202020204" pitchFamily="34" charset="0"/>
              <a:buChar char="•"/>
            </a:pPr>
            <a:r>
              <a:rPr lang="en-IN" dirty="0"/>
              <a:t>ESP32 + Sensors → ₹1500–₹3000 </a:t>
            </a:r>
          </a:p>
          <a:p>
            <a:pPr>
              <a:buFont typeface="Arial" panose="020B0604020202020204" pitchFamily="34" charset="0"/>
              <a:buChar char="•"/>
            </a:pPr>
            <a:r>
              <a:rPr lang="en-IN" dirty="0"/>
              <a:t>Cloud → Free tier / minimal cost </a:t>
            </a:r>
          </a:p>
          <a:p>
            <a:pPr>
              <a:buNone/>
            </a:pPr>
            <a:r>
              <a:rPr lang="en-IN" b="1" dirty="0"/>
              <a:t>🏭 Industry Cost:</a:t>
            </a:r>
          </a:p>
          <a:p>
            <a:pPr>
              <a:buFont typeface="Arial" panose="020B0604020202020204" pitchFamily="34" charset="0"/>
              <a:buChar char="•"/>
            </a:pPr>
            <a:r>
              <a:rPr lang="en-IN" dirty="0"/>
              <a:t>Scales based on infrastructure </a:t>
            </a:r>
          </a:p>
          <a:p>
            <a:pPr>
              <a:buNone/>
            </a:pPr>
            <a:r>
              <a:rPr lang="en-IN" b="1" dirty="0"/>
              <a:t>🔧 Requirements:</a:t>
            </a:r>
          </a:p>
          <a:p>
            <a:pPr>
              <a:buFont typeface="Arial" panose="020B0604020202020204" pitchFamily="34" charset="0"/>
              <a:buChar char="•"/>
            </a:pPr>
            <a:r>
              <a:rPr lang="en-IN" dirty="0"/>
              <a:t>IoT setup </a:t>
            </a:r>
          </a:p>
          <a:p>
            <a:pPr>
              <a:buFont typeface="Arial" panose="020B0604020202020204" pitchFamily="34" charset="0"/>
              <a:buChar char="•"/>
            </a:pPr>
            <a:r>
              <a:rPr lang="en-IN" dirty="0"/>
              <a:t>AI development </a:t>
            </a:r>
          </a:p>
          <a:p>
            <a:pPr>
              <a:buFont typeface="Arial" panose="020B0604020202020204" pitchFamily="34" charset="0"/>
              <a:buChar char="•"/>
            </a:pPr>
            <a:r>
              <a:rPr lang="en-IN" dirty="0"/>
              <a:t>Cloud integration</a:t>
            </a:r>
          </a:p>
        </p:txBody>
      </p:sp>
      <p:sp>
        <p:nvSpPr>
          <p:cNvPr id="5" name="TextBox 4">
            <a:extLst>
              <a:ext uri="{FF2B5EF4-FFF2-40B4-BE49-F238E27FC236}">
                <a16:creationId xmlns:a16="http://schemas.microsoft.com/office/drawing/2014/main" xmlns="" id="{FAF73372-99A2-11A8-DFF5-38D085FDA5D2}"/>
              </a:ext>
            </a:extLst>
          </p:cNvPr>
          <p:cNvSpPr txBox="1"/>
          <p:nvPr/>
        </p:nvSpPr>
        <p:spPr>
          <a:xfrm>
            <a:off x="148590" y="117086"/>
            <a:ext cx="6094476" cy="400110"/>
          </a:xfrm>
          <a:prstGeom prst="rect">
            <a:avLst/>
          </a:prstGeom>
          <a:noFill/>
        </p:spPr>
        <p:txBody>
          <a:bodyPr wrap="square">
            <a:spAutoFit/>
          </a:bodyPr>
          <a:lstStyle/>
          <a:p>
            <a:pPr>
              <a:buNone/>
            </a:pPr>
            <a:r>
              <a:rPr lang="en-IN" sz="2000" b="1" dirty="0">
                <a:solidFill>
                  <a:srgbClr val="FF0000"/>
                </a:solidFill>
                <a:latin typeface="Times New Roman" panose="02020603050405020304" pitchFamily="18" charset="0"/>
                <a:cs typeface="Times New Roman" panose="02020603050405020304" pitchFamily="18" charset="0"/>
              </a:rPr>
              <a:t>Investments</a:t>
            </a:r>
            <a:endParaRPr lang="en-IN"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2136261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53522EC7-97A5-1D2F-0230-8EF3BEE4E50A}"/>
              </a:ext>
            </a:extLst>
          </p:cNvPr>
          <p:cNvSpPr txBox="1"/>
          <p:nvPr/>
        </p:nvSpPr>
        <p:spPr>
          <a:xfrm>
            <a:off x="3047238" y="1997839"/>
            <a:ext cx="6094476" cy="2585323"/>
          </a:xfrm>
          <a:prstGeom prst="rect">
            <a:avLst/>
          </a:prstGeom>
          <a:noFill/>
        </p:spPr>
        <p:txBody>
          <a:bodyPr wrap="square">
            <a:spAutoFit/>
          </a:bodyPr>
          <a:lstStyle/>
          <a:p>
            <a:pPr>
              <a:buNone/>
            </a:pPr>
            <a:r>
              <a:rPr lang="en-US" b="1" dirty="0"/>
              <a:t>💵 ROI:</a:t>
            </a:r>
          </a:p>
          <a:p>
            <a:pPr>
              <a:buFont typeface="Arial" panose="020B0604020202020204" pitchFamily="34" charset="0"/>
              <a:buChar char="•"/>
            </a:pPr>
            <a:r>
              <a:rPr lang="en-US" dirty="0"/>
              <a:t>Payback period: ~1–2 years </a:t>
            </a:r>
          </a:p>
          <a:p>
            <a:pPr>
              <a:buNone/>
            </a:pPr>
            <a:r>
              <a:rPr lang="en-US" b="1" dirty="0"/>
              <a:t>📊 Benefits:</a:t>
            </a:r>
          </a:p>
          <a:p>
            <a:pPr>
              <a:buFont typeface="Arial" panose="020B0604020202020204" pitchFamily="34" charset="0"/>
              <a:buChar char="•"/>
            </a:pPr>
            <a:r>
              <a:rPr lang="en-US" dirty="0"/>
              <a:t>Reduced energy bills </a:t>
            </a:r>
          </a:p>
          <a:p>
            <a:pPr>
              <a:buFont typeface="Arial" panose="020B0604020202020204" pitchFamily="34" charset="0"/>
              <a:buChar char="•"/>
            </a:pPr>
            <a:r>
              <a:rPr lang="en-US" dirty="0"/>
              <a:t>Reduced maintenance cost </a:t>
            </a:r>
          </a:p>
          <a:p>
            <a:pPr>
              <a:buNone/>
            </a:pPr>
            <a:r>
              <a:rPr lang="en-US" b="1" dirty="0"/>
              <a:t>❗ If NOT implemented:</a:t>
            </a:r>
          </a:p>
          <a:p>
            <a:pPr>
              <a:buFont typeface="Arial" panose="020B0604020202020204" pitchFamily="34" charset="0"/>
              <a:buChar char="•"/>
            </a:pPr>
            <a:r>
              <a:rPr lang="en-US" dirty="0"/>
              <a:t>High energy waste </a:t>
            </a:r>
          </a:p>
          <a:p>
            <a:pPr>
              <a:buFont typeface="Arial" panose="020B0604020202020204" pitchFamily="34" charset="0"/>
              <a:buChar char="•"/>
            </a:pPr>
            <a:r>
              <a:rPr lang="en-US" dirty="0"/>
              <a:t>Safety risks </a:t>
            </a:r>
          </a:p>
          <a:p>
            <a:pPr>
              <a:buFont typeface="Arial" panose="020B0604020202020204" pitchFamily="34" charset="0"/>
              <a:buChar char="•"/>
            </a:pPr>
            <a:r>
              <a:rPr lang="en-US" dirty="0"/>
              <a:t>Increased downtime</a:t>
            </a:r>
          </a:p>
        </p:txBody>
      </p:sp>
      <p:sp>
        <p:nvSpPr>
          <p:cNvPr id="5" name="TextBox 4">
            <a:extLst>
              <a:ext uri="{FF2B5EF4-FFF2-40B4-BE49-F238E27FC236}">
                <a16:creationId xmlns:a16="http://schemas.microsoft.com/office/drawing/2014/main" xmlns="" id="{CC5F5F10-A948-8FAE-C0D0-E3C4C11F98F2}"/>
              </a:ext>
            </a:extLst>
          </p:cNvPr>
          <p:cNvSpPr txBox="1"/>
          <p:nvPr/>
        </p:nvSpPr>
        <p:spPr>
          <a:xfrm>
            <a:off x="322326" y="309110"/>
            <a:ext cx="6094476" cy="400110"/>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Returns</a:t>
            </a:r>
          </a:p>
        </p:txBody>
      </p:sp>
    </p:spTree>
    <p:extLst>
      <p:ext uri="{BB962C8B-B14F-4D97-AF65-F5344CB8AC3E}">
        <p14:creationId xmlns:p14="http://schemas.microsoft.com/office/powerpoint/2010/main" xmlns="" val="1750142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24ED34-D725-1591-60BA-606D44647DF4}"/>
              </a:ext>
            </a:extLst>
          </p:cNvPr>
          <p:cNvSpPr txBox="1"/>
          <p:nvPr/>
        </p:nvSpPr>
        <p:spPr>
          <a:xfrm>
            <a:off x="3047238" y="2413338"/>
            <a:ext cx="6094476" cy="1754326"/>
          </a:xfrm>
          <a:prstGeom prst="rect">
            <a:avLst/>
          </a:prstGeom>
          <a:noFill/>
        </p:spPr>
        <p:txBody>
          <a:bodyPr wrap="square">
            <a:spAutoFit/>
          </a:bodyPr>
          <a:lstStyle/>
          <a:p>
            <a:pPr>
              <a:buNone/>
            </a:pPr>
            <a:r>
              <a:rPr lang="en-US" b="1" dirty="0"/>
              <a:t>📅 Development Plan:</a:t>
            </a:r>
          </a:p>
          <a:p>
            <a:pPr>
              <a:buFont typeface="Arial" panose="020B0604020202020204" pitchFamily="34" charset="0"/>
              <a:buChar char="•"/>
            </a:pPr>
            <a:r>
              <a:rPr lang="en-US" dirty="0"/>
              <a:t>Week 1–2: Research &amp; Design </a:t>
            </a:r>
          </a:p>
          <a:p>
            <a:pPr>
              <a:buFont typeface="Arial" panose="020B0604020202020204" pitchFamily="34" charset="0"/>
              <a:buChar char="•"/>
            </a:pPr>
            <a:r>
              <a:rPr lang="en-US" dirty="0"/>
              <a:t>Week 3–4: Hardware Setup </a:t>
            </a:r>
          </a:p>
          <a:p>
            <a:pPr>
              <a:buFont typeface="Arial" panose="020B0604020202020204" pitchFamily="34" charset="0"/>
              <a:buChar char="•"/>
            </a:pPr>
            <a:r>
              <a:rPr lang="en-US" dirty="0"/>
              <a:t>Week 5–6: AI Model </a:t>
            </a:r>
          </a:p>
          <a:p>
            <a:pPr>
              <a:buFont typeface="Arial" panose="020B0604020202020204" pitchFamily="34" charset="0"/>
              <a:buChar char="•"/>
            </a:pPr>
            <a:r>
              <a:rPr lang="en-US" dirty="0"/>
              <a:t>Week 7: Integration </a:t>
            </a:r>
          </a:p>
          <a:p>
            <a:pPr>
              <a:buFont typeface="Arial" panose="020B0604020202020204" pitchFamily="34" charset="0"/>
              <a:buChar char="•"/>
            </a:pPr>
            <a:r>
              <a:rPr lang="en-US" dirty="0"/>
              <a:t>Week 8: Testing &amp; Demo</a:t>
            </a:r>
          </a:p>
        </p:txBody>
      </p:sp>
      <p:sp>
        <p:nvSpPr>
          <p:cNvPr id="5" name="TextBox 4">
            <a:extLst>
              <a:ext uri="{FF2B5EF4-FFF2-40B4-BE49-F238E27FC236}">
                <a16:creationId xmlns:a16="http://schemas.microsoft.com/office/drawing/2014/main" xmlns="" id="{15084422-1339-F327-BFAC-B110E3E4EA68}"/>
              </a:ext>
            </a:extLst>
          </p:cNvPr>
          <p:cNvSpPr txBox="1"/>
          <p:nvPr/>
        </p:nvSpPr>
        <p:spPr>
          <a:xfrm>
            <a:off x="112014" y="290822"/>
            <a:ext cx="6094476" cy="400110"/>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Timelines</a:t>
            </a:r>
          </a:p>
        </p:txBody>
      </p:sp>
    </p:spTree>
    <p:extLst>
      <p:ext uri="{BB962C8B-B14F-4D97-AF65-F5344CB8AC3E}">
        <p14:creationId xmlns:p14="http://schemas.microsoft.com/office/powerpoint/2010/main" xmlns="" val="2731103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4826" y="244548"/>
            <a:ext cx="11430000" cy="6186309"/>
          </a:xfrm>
          <a:prstGeom prst="rect">
            <a:avLst/>
          </a:prstGeom>
        </p:spPr>
        <p:txBody>
          <a:bodyPr wrap="square">
            <a:spAutoFit/>
          </a:bodyPr>
          <a:lstStyle/>
          <a:p>
            <a:pPr algn="just"/>
            <a:r>
              <a:rPr lang="en-US" sz="3600" dirty="0" smtClean="0">
                <a:solidFill>
                  <a:srgbClr val="FF0000"/>
                </a:solidFill>
                <a:latin typeface="Times New Roman" pitchFamily="18" charset="0"/>
                <a:cs typeface="Times New Roman" pitchFamily="18" charset="0"/>
              </a:rPr>
              <a:t>Benefits with Quantified Metrics &amp; Real Impact</a:t>
            </a:r>
            <a:endParaRPr lang="en-US" sz="3600" b="1" dirty="0" smtClean="0">
              <a:solidFill>
                <a:srgbClr val="FF0000"/>
              </a:solidFill>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1</a:t>
            </a:r>
            <a:r>
              <a:rPr lang="en-US" b="1" dirty="0" smtClean="0">
                <a:latin typeface="Times New Roman" pitchFamily="18" charset="0"/>
                <a:cs typeface="Times New Roman" pitchFamily="18" charset="0"/>
              </a:rPr>
              <a:t>. User Experience (Safety, Comfort, Reliability)</a:t>
            </a:r>
          </a:p>
          <a:p>
            <a:pPr algn="just"/>
            <a:r>
              <a:rPr lang="en-US" dirty="0" smtClean="0">
                <a:latin typeface="Times New Roman" pitchFamily="18" charset="0"/>
                <a:cs typeface="Times New Roman" pitchFamily="18" charset="0"/>
              </a:rPr>
              <a:t>The system directly improves how people experience tunnel travel and how operators interact with the system.</a:t>
            </a:r>
          </a:p>
          <a:p>
            <a:pPr algn="just"/>
            <a:r>
              <a:rPr lang="en-US" dirty="0" smtClean="0">
                <a:latin typeface="Times New Roman" pitchFamily="18" charset="0"/>
                <a:cs typeface="Times New Roman" pitchFamily="18" charset="0"/>
              </a:rPr>
              <a:t>Real-time air quality monitoring ensures optimal ventilation based on CO, </a:t>
            </a:r>
            <a:r>
              <a:rPr lang="en-US" dirty="0" err="1" smtClean="0">
                <a:latin typeface="Times New Roman" pitchFamily="18" charset="0"/>
                <a:cs typeface="Times New Roman" pitchFamily="18" charset="0"/>
              </a:rPr>
              <a:t>NOx</a:t>
            </a:r>
            <a:r>
              <a:rPr lang="en-US" dirty="0" smtClean="0">
                <a:latin typeface="Times New Roman" pitchFamily="18" charset="0"/>
                <a:cs typeface="Times New Roman" pitchFamily="18" charset="0"/>
              </a:rPr>
              <a:t>, and smoke levels </a:t>
            </a:r>
          </a:p>
          <a:p>
            <a:pPr algn="just"/>
            <a:r>
              <a:rPr lang="en-US" dirty="0" smtClean="0">
                <a:latin typeface="Times New Roman" pitchFamily="18" charset="0"/>
                <a:cs typeface="Times New Roman" pitchFamily="18" charset="0"/>
              </a:rPr>
              <a:t>Faster detection of hazardous events (fire, toxic gas buildup) </a:t>
            </a:r>
          </a:p>
          <a:p>
            <a:pPr algn="just"/>
            <a:r>
              <a:rPr lang="en-US" dirty="0" smtClean="0">
                <a:latin typeface="Times New Roman" pitchFamily="18" charset="0"/>
                <a:cs typeface="Times New Roman" pitchFamily="18" charset="0"/>
              </a:rPr>
              <a:t>Reduced unexpected fan failures → fewer tunnel disruptions </a:t>
            </a:r>
          </a:p>
          <a:p>
            <a:pPr algn="just"/>
            <a:r>
              <a:rPr lang="en-US" b="1" dirty="0" smtClean="0">
                <a:latin typeface="Times New Roman" pitchFamily="18" charset="0"/>
                <a:cs typeface="Times New Roman" pitchFamily="18" charset="0"/>
              </a:rPr>
              <a:t>📊 Metrics:</a:t>
            </a:r>
          </a:p>
          <a:p>
            <a:pPr algn="just"/>
            <a:r>
              <a:rPr lang="en-US" b="1" dirty="0" smtClean="0">
                <a:latin typeface="Times New Roman" pitchFamily="18" charset="0"/>
                <a:cs typeface="Times New Roman" pitchFamily="18" charset="0"/>
              </a:rPr>
              <a:t>25–40% faster response time</a:t>
            </a:r>
            <a:r>
              <a:rPr lang="en-US" dirty="0" smtClean="0">
                <a:latin typeface="Times New Roman" pitchFamily="18" charset="0"/>
                <a:cs typeface="Times New Roman" pitchFamily="18" charset="0"/>
              </a:rPr>
              <a:t> to air quality changes </a:t>
            </a:r>
          </a:p>
          <a:p>
            <a:pPr algn="just"/>
            <a:r>
              <a:rPr lang="en-US" b="1" dirty="0" smtClean="0">
                <a:latin typeface="Times New Roman" pitchFamily="18" charset="0"/>
                <a:cs typeface="Times New Roman" pitchFamily="18" charset="0"/>
              </a:rPr>
              <a:t>30–50% reduction in sudden system failures</a:t>
            </a:r>
            <a:r>
              <a:rPr lang="en-US" dirty="0" smtClean="0">
                <a:latin typeface="Times New Roman" pitchFamily="18" charset="0"/>
                <a:cs typeface="Times New Roman" pitchFamily="18" charset="0"/>
              </a:rPr>
              <a:t> </a:t>
            </a:r>
          </a:p>
          <a:p>
            <a:pPr algn="just"/>
            <a:r>
              <a:rPr lang="en-US" b="1" dirty="0" smtClean="0">
                <a:latin typeface="Times New Roman" pitchFamily="18" charset="0"/>
                <a:cs typeface="Times New Roman" pitchFamily="18" charset="0"/>
              </a:rPr>
              <a:t>Improved air quality index (AQI) stability by ~20–35</a:t>
            </a:r>
            <a:r>
              <a:rPr lang="en-US" b="1" dirty="0" smtClean="0">
                <a:latin typeface="Times New Roman" pitchFamily="18" charset="0"/>
                <a:cs typeface="Times New Roman" pitchFamily="18" charset="0"/>
              </a:rPr>
              <a:t>%</a:t>
            </a:r>
          </a:p>
          <a:p>
            <a:pPr algn="just"/>
            <a:endParaRPr lang="en-US" b="1" dirty="0" smtClean="0">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2. Operational Efficiency (Smart Resource Utilization)</a:t>
            </a:r>
          </a:p>
          <a:p>
            <a:pPr algn="just"/>
            <a:r>
              <a:rPr lang="en-US" dirty="0" smtClean="0">
                <a:latin typeface="Times New Roman" pitchFamily="18" charset="0"/>
                <a:cs typeface="Times New Roman" pitchFamily="18" charset="0"/>
              </a:rPr>
              <a:t>Instead of running at constant capacity, the system dynamically adjusts based on real-time conditions.</a:t>
            </a:r>
          </a:p>
          <a:p>
            <a:pPr algn="just"/>
            <a:r>
              <a:rPr lang="en-US" dirty="0" smtClean="0">
                <a:latin typeface="Times New Roman" pitchFamily="18" charset="0"/>
                <a:cs typeface="Times New Roman" pitchFamily="18" charset="0"/>
              </a:rPr>
              <a:t>Intelligent fan speed control </a:t>
            </a:r>
          </a:p>
          <a:p>
            <a:pPr algn="just"/>
            <a:r>
              <a:rPr lang="en-US" dirty="0" smtClean="0">
                <a:latin typeface="Times New Roman" pitchFamily="18" charset="0"/>
                <a:cs typeface="Times New Roman" pitchFamily="18" charset="0"/>
              </a:rPr>
              <a:t>Load balancing using multi-sensor data </a:t>
            </a:r>
          </a:p>
          <a:p>
            <a:pPr algn="just"/>
            <a:r>
              <a:rPr lang="en-US" dirty="0" smtClean="0">
                <a:latin typeface="Times New Roman" pitchFamily="18" charset="0"/>
                <a:cs typeface="Times New Roman" pitchFamily="18" charset="0"/>
              </a:rPr>
              <a:t>Predictive maintenance avoids inefficient operation </a:t>
            </a:r>
          </a:p>
          <a:p>
            <a:pPr algn="just"/>
            <a:r>
              <a:rPr lang="en-US" b="1" dirty="0" smtClean="0">
                <a:latin typeface="Times New Roman" pitchFamily="18" charset="0"/>
                <a:cs typeface="Times New Roman" pitchFamily="18" charset="0"/>
              </a:rPr>
              <a:t>📊 Metrics:</a:t>
            </a:r>
          </a:p>
          <a:p>
            <a:pPr algn="just"/>
            <a:r>
              <a:rPr lang="en-US" b="1" dirty="0" smtClean="0">
                <a:latin typeface="Times New Roman" pitchFamily="18" charset="0"/>
                <a:cs typeface="Times New Roman" pitchFamily="18" charset="0"/>
              </a:rPr>
              <a:t>15–30% increase in overall system efficiency</a:t>
            </a:r>
            <a:r>
              <a:rPr lang="en-US" dirty="0" smtClean="0">
                <a:latin typeface="Times New Roman" pitchFamily="18" charset="0"/>
                <a:cs typeface="Times New Roman" pitchFamily="18" charset="0"/>
              </a:rPr>
              <a:t> </a:t>
            </a:r>
          </a:p>
          <a:p>
            <a:pPr algn="just"/>
            <a:r>
              <a:rPr lang="en-US" b="1" dirty="0" smtClean="0">
                <a:latin typeface="Times New Roman" pitchFamily="18" charset="0"/>
                <a:cs typeface="Times New Roman" pitchFamily="18" charset="0"/>
              </a:rPr>
              <a:t>20–35% improvement in fault detection accuracy</a:t>
            </a:r>
            <a:r>
              <a:rPr lang="en-US" dirty="0" smtClean="0">
                <a:latin typeface="Times New Roman" pitchFamily="18" charset="0"/>
                <a:cs typeface="Times New Roman" pitchFamily="18" charset="0"/>
              </a:rPr>
              <a:t> </a:t>
            </a:r>
          </a:p>
          <a:p>
            <a:pPr algn="just"/>
            <a:r>
              <a:rPr lang="en-US" b="1" dirty="0" smtClean="0">
                <a:latin typeface="Times New Roman" pitchFamily="18" charset="0"/>
                <a:cs typeface="Times New Roman" pitchFamily="18" charset="0"/>
              </a:rPr>
              <a:t>Up to 25% reduction in unnecessary fan usage</a:t>
            </a:r>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460" y="188495"/>
            <a:ext cx="10359958" cy="6463308"/>
          </a:xfrm>
          <a:prstGeom prst="rect">
            <a:avLst/>
          </a:prstGeom>
        </p:spPr>
        <p:txBody>
          <a:bodyPr wrap="square">
            <a:spAutoFit/>
          </a:bodyPr>
          <a:lstStyle/>
          <a:p>
            <a:pPr algn="just"/>
            <a:r>
              <a:rPr lang="en-US" b="1" dirty="0" smtClean="0">
                <a:latin typeface="Times New Roman" pitchFamily="18" charset="0"/>
                <a:cs typeface="Times New Roman" pitchFamily="18" charset="0"/>
              </a:rPr>
              <a:t>3. Time Savings (Automation &amp; Faster Decision-Making)</a:t>
            </a:r>
          </a:p>
          <a:p>
            <a:pPr algn="just"/>
            <a:r>
              <a:rPr lang="en-US" dirty="0" smtClean="0">
                <a:latin typeface="Times New Roman" pitchFamily="18" charset="0"/>
                <a:cs typeface="Times New Roman" pitchFamily="18" charset="0"/>
              </a:rPr>
              <a:t>Manual inspections and reactive troubleshooting are replaced by continuous monitoring and automated alerts.</a:t>
            </a:r>
          </a:p>
          <a:p>
            <a:pPr algn="just"/>
            <a:r>
              <a:rPr lang="en-US" dirty="0" smtClean="0">
                <a:latin typeface="Times New Roman" pitchFamily="18" charset="0"/>
                <a:cs typeface="Times New Roman" pitchFamily="18" charset="0"/>
              </a:rPr>
              <a:t>Real-time diagnostics instead of periodic checks </a:t>
            </a:r>
          </a:p>
          <a:p>
            <a:pPr algn="just"/>
            <a:r>
              <a:rPr lang="en-US" dirty="0" smtClean="0">
                <a:latin typeface="Times New Roman" pitchFamily="18" charset="0"/>
                <a:cs typeface="Times New Roman" pitchFamily="18" charset="0"/>
              </a:rPr>
              <a:t>Automated maintenance scheduling </a:t>
            </a:r>
          </a:p>
          <a:p>
            <a:pPr algn="just"/>
            <a:r>
              <a:rPr lang="en-US" dirty="0" smtClean="0">
                <a:latin typeface="Times New Roman" pitchFamily="18" charset="0"/>
                <a:cs typeface="Times New Roman" pitchFamily="18" charset="0"/>
              </a:rPr>
              <a:t>Instant anomaly detection </a:t>
            </a:r>
          </a:p>
          <a:p>
            <a:pPr algn="just"/>
            <a:r>
              <a:rPr lang="en-US" b="1" dirty="0" smtClean="0">
                <a:latin typeface="Times New Roman" pitchFamily="18" charset="0"/>
                <a:cs typeface="Times New Roman" pitchFamily="18" charset="0"/>
              </a:rPr>
              <a:t>📊 Metrics:</a:t>
            </a:r>
          </a:p>
          <a:p>
            <a:pPr algn="just"/>
            <a:r>
              <a:rPr lang="en-US" b="1" dirty="0" smtClean="0">
                <a:latin typeface="Times New Roman" pitchFamily="18" charset="0"/>
                <a:cs typeface="Times New Roman" pitchFamily="18" charset="0"/>
              </a:rPr>
              <a:t>40–60% reduction in manual inspection time</a:t>
            </a:r>
            <a:r>
              <a:rPr lang="en-US" dirty="0" smtClean="0">
                <a:latin typeface="Times New Roman" pitchFamily="18" charset="0"/>
                <a:cs typeface="Times New Roman" pitchFamily="18" charset="0"/>
              </a:rPr>
              <a:t> </a:t>
            </a:r>
          </a:p>
          <a:p>
            <a:pPr algn="just"/>
            <a:r>
              <a:rPr lang="en-US" b="1" dirty="0" smtClean="0">
                <a:latin typeface="Times New Roman" pitchFamily="18" charset="0"/>
                <a:cs typeface="Times New Roman" pitchFamily="18" charset="0"/>
              </a:rPr>
              <a:t>50–70% faster fault identification</a:t>
            </a:r>
            <a:r>
              <a:rPr lang="en-US" dirty="0" smtClean="0">
                <a:latin typeface="Times New Roman" pitchFamily="18" charset="0"/>
                <a:cs typeface="Times New Roman" pitchFamily="18" charset="0"/>
              </a:rPr>
              <a:t> </a:t>
            </a:r>
          </a:p>
          <a:p>
            <a:pPr algn="just"/>
            <a:r>
              <a:rPr lang="en-US" dirty="0" smtClean="0">
                <a:latin typeface="Times New Roman" pitchFamily="18" charset="0"/>
                <a:cs typeface="Times New Roman" pitchFamily="18" charset="0"/>
              </a:rPr>
              <a:t>Maintenance planning time reduced by </a:t>
            </a:r>
            <a:r>
              <a:rPr lang="en-US" b="1" dirty="0" smtClean="0">
                <a:latin typeface="Times New Roman" pitchFamily="18" charset="0"/>
                <a:cs typeface="Times New Roman" pitchFamily="18" charset="0"/>
              </a:rPr>
              <a:t>~30–45</a:t>
            </a:r>
            <a:r>
              <a:rPr lang="en-US" b="1" dirty="0" smtClean="0">
                <a:latin typeface="Times New Roman" pitchFamily="18" charset="0"/>
                <a:cs typeface="Times New Roman" pitchFamily="18" charset="0"/>
              </a:rPr>
              <a:t>%</a:t>
            </a:r>
          </a:p>
          <a:p>
            <a:pPr algn="just"/>
            <a:endParaRPr lang="en-US" b="1" dirty="0" smtClean="0">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4. Cost Savings (Energy + Maintenance + Operations)</a:t>
            </a:r>
          </a:p>
          <a:p>
            <a:pPr algn="just"/>
            <a:r>
              <a:rPr lang="en-US" dirty="0" smtClean="0">
                <a:latin typeface="Times New Roman" pitchFamily="18" charset="0"/>
                <a:cs typeface="Times New Roman" pitchFamily="18" charset="0"/>
              </a:rPr>
              <a:t>This is one of the strongest advantages of your system.</a:t>
            </a:r>
          </a:p>
          <a:p>
            <a:pPr algn="just"/>
            <a:r>
              <a:rPr lang="en-US" b="1" dirty="0" smtClean="0">
                <a:latin typeface="Times New Roman" pitchFamily="18" charset="0"/>
                <a:cs typeface="Times New Roman" pitchFamily="18" charset="0"/>
              </a:rPr>
              <a:t>Energy Savings:</a:t>
            </a:r>
          </a:p>
          <a:p>
            <a:pPr algn="just"/>
            <a:r>
              <a:rPr lang="en-US" dirty="0" smtClean="0">
                <a:latin typeface="Times New Roman" pitchFamily="18" charset="0"/>
                <a:cs typeface="Times New Roman" pitchFamily="18" charset="0"/>
              </a:rPr>
              <a:t>Optimized fan operation reduces electricity usage </a:t>
            </a:r>
          </a:p>
          <a:p>
            <a:pPr algn="just"/>
            <a:r>
              <a:rPr lang="en-US" b="1" dirty="0" smtClean="0">
                <a:latin typeface="Times New Roman" pitchFamily="18" charset="0"/>
                <a:cs typeface="Times New Roman" pitchFamily="18" charset="0"/>
              </a:rPr>
              <a:t>Maintenance Savings:</a:t>
            </a:r>
          </a:p>
          <a:p>
            <a:pPr algn="just"/>
            <a:r>
              <a:rPr lang="en-US" dirty="0" smtClean="0">
                <a:latin typeface="Times New Roman" pitchFamily="18" charset="0"/>
                <a:cs typeface="Times New Roman" pitchFamily="18" charset="0"/>
              </a:rPr>
              <a:t>Early fault detection avoids expensive repairs </a:t>
            </a:r>
          </a:p>
          <a:p>
            <a:pPr algn="just"/>
            <a:r>
              <a:rPr lang="en-US" b="1" dirty="0" smtClean="0">
                <a:latin typeface="Times New Roman" pitchFamily="18" charset="0"/>
                <a:cs typeface="Times New Roman" pitchFamily="18" charset="0"/>
              </a:rPr>
              <a:t>Operational Savings:</a:t>
            </a:r>
          </a:p>
          <a:p>
            <a:pPr algn="just"/>
            <a:r>
              <a:rPr lang="en-US" dirty="0" smtClean="0">
                <a:latin typeface="Times New Roman" pitchFamily="18" charset="0"/>
                <a:cs typeface="Times New Roman" pitchFamily="18" charset="0"/>
              </a:rPr>
              <a:t>Less downtime → no emergency shutdown losses </a:t>
            </a:r>
          </a:p>
          <a:p>
            <a:pPr algn="just"/>
            <a:r>
              <a:rPr lang="en-US" b="1" dirty="0" smtClean="0">
                <a:latin typeface="Times New Roman" pitchFamily="18" charset="0"/>
                <a:cs typeface="Times New Roman" pitchFamily="18" charset="0"/>
              </a:rPr>
              <a:t>📊 Metrics:</a:t>
            </a:r>
          </a:p>
          <a:p>
            <a:pPr algn="just"/>
            <a:r>
              <a:rPr lang="en-US" b="1" dirty="0" smtClean="0">
                <a:latin typeface="Times New Roman" pitchFamily="18" charset="0"/>
                <a:cs typeface="Times New Roman" pitchFamily="18" charset="0"/>
              </a:rPr>
              <a:t>15–30% reduction in energy costs</a:t>
            </a:r>
            <a:r>
              <a:rPr lang="en-US" dirty="0" smtClean="0">
                <a:latin typeface="Times New Roman" pitchFamily="18" charset="0"/>
                <a:cs typeface="Times New Roman" pitchFamily="18" charset="0"/>
              </a:rPr>
              <a:t> </a:t>
            </a:r>
          </a:p>
          <a:p>
            <a:pPr algn="just"/>
            <a:r>
              <a:rPr lang="en-US" b="1" dirty="0" smtClean="0">
                <a:latin typeface="Times New Roman" pitchFamily="18" charset="0"/>
                <a:cs typeface="Times New Roman" pitchFamily="18" charset="0"/>
              </a:rPr>
              <a:t>20–40% reduction in maintenance costs</a:t>
            </a:r>
            <a:r>
              <a:rPr lang="en-US" dirty="0" smtClean="0">
                <a:latin typeface="Times New Roman" pitchFamily="18" charset="0"/>
                <a:cs typeface="Times New Roman" pitchFamily="18" charset="0"/>
              </a:rPr>
              <a:t> </a:t>
            </a:r>
          </a:p>
          <a:p>
            <a:pPr algn="just"/>
            <a:r>
              <a:rPr lang="en-US" b="1" dirty="0" smtClean="0">
                <a:latin typeface="Times New Roman" pitchFamily="18" charset="0"/>
                <a:cs typeface="Times New Roman" pitchFamily="18" charset="0"/>
              </a:rPr>
              <a:t>20–35% overall operational cost savings</a:t>
            </a:r>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1831" y="531275"/>
            <a:ext cx="11274356" cy="5355312"/>
          </a:xfrm>
          <a:prstGeom prst="rect">
            <a:avLst/>
          </a:prstGeom>
        </p:spPr>
        <p:txBody>
          <a:bodyPr wrap="square">
            <a:spAutoFit/>
          </a:bodyPr>
          <a:lstStyle/>
          <a:p>
            <a:r>
              <a:rPr lang="en-US" b="1" dirty="0" smtClean="0">
                <a:latin typeface="Times New Roman" pitchFamily="18" charset="0"/>
                <a:cs typeface="Times New Roman" pitchFamily="18" charset="0"/>
              </a:rPr>
              <a:t>5. Flexibility (Adaptability to Different Conditions)</a:t>
            </a:r>
          </a:p>
          <a:p>
            <a:r>
              <a:rPr lang="en-US" dirty="0" smtClean="0">
                <a:latin typeface="Times New Roman" pitchFamily="18" charset="0"/>
                <a:cs typeface="Times New Roman" pitchFamily="18" charset="0"/>
              </a:rPr>
              <a:t>The system adapts to varying environments and requirements.</a:t>
            </a:r>
          </a:p>
          <a:p>
            <a:r>
              <a:rPr lang="en-US" dirty="0" smtClean="0">
                <a:latin typeface="Times New Roman" pitchFamily="18" charset="0"/>
                <a:cs typeface="Times New Roman" pitchFamily="18" charset="0"/>
              </a:rPr>
              <a:t>Works under different traffic densities and pollution levels </a:t>
            </a:r>
          </a:p>
          <a:p>
            <a:r>
              <a:rPr lang="en-US" dirty="0" smtClean="0">
                <a:latin typeface="Times New Roman" pitchFamily="18" charset="0"/>
                <a:cs typeface="Times New Roman" pitchFamily="18" charset="0"/>
              </a:rPr>
              <a:t>Can integrate new sensors or AI models </a:t>
            </a:r>
          </a:p>
          <a:p>
            <a:r>
              <a:rPr lang="en-US" dirty="0" smtClean="0">
                <a:latin typeface="Times New Roman" pitchFamily="18" charset="0"/>
                <a:cs typeface="Times New Roman" pitchFamily="18" charset="0"/>
              </a:rPr>
              <a:t>Supports different tunnel sizes and configurations </a:t>
            </a:r>
          </a:p>
          <a:p>
            <a:r>
              <a:rPr lang="en-US" b="1" dirty="0" smtClean="0">
                <a:latin typeface="Times New Roman" pitchFamily="18" charset="0"/>
                <a:cs typeface="Times New Roman" pitchFamily="18" charset="0"/>
              </a:rPr>
              <a:t>📊 Metrics:</a:t>
            </a:r>
          </a:p>
          <a:p>
            <a:r>
              <a:rPr lang="en-US" dirty="0" smtClean="0">
                <a:latin typeface="Times New Roman" pitchFamily="18" charset="0"/>
                <a:cs typeface="Times New Roman" pitchFamily="18" charset="0"/>
              </a:rPr>
              <a:t>Supports </a:t>
            </a:r>
            <a:r>
              <a:rPr lang="en-US" b="1" dirty="0" smtClean="0">
                <a:latin typeface="Times New Roman" pitchFamily="18" charset="0"/>
                <a:cs typeface="Times New Roman" pitchFamily="18" charset="0"/>
              </a:rPr>
              <a:t>multiple sensor types (5–10 inputs simultaneously)</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Adaptation latency reduced to </a:t>
            </a:r>
            <a:r>
              <a:rPr lang="en-US" b="1" dirty="0" smtClean="0">
                <a:latin typeface="Times New Roman" pitchFamily="18" charset="0"/>
                <a:cs typeface="Times New Roman" pitchFamily="18" charset="0"/>
              </a:rPr>
              <a:t>&lt;5 seconds</a:t>
            </a:r>
            <a:r>
              <a:rPr lang="en-US" dirty="0" smtClean="0">
                <a:latin typeface="Times New Roman" pitchFamily="18" charset="0"/>
                <a:cs typeface="Times New Roman" pitchFamily="18" charset="0"/>
              </a:rPr>
              <a:t> for environmental </a:t>
            </a:r>
            <a:r>
              <a:rPr lang="en-US" dirty="0" smtClean="0">
                <a:latin typeface="Times New Roman" pitchFamily="18" charset="0"/>
                <a:cs typeface="Times New Roman" pitchFamily="18" charset="0"/>
              </a:rPr>
              <a:t>changes</a:t>
            </a:r>
          </a:p>
          <a:p>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6.Scalability </a:t>
            </a:r>
            <a:r>
              <a:rPr lang="en-US" b="1" dirty="0" smtClean="0">
                <a:latin typeface="Times New Roman" pitchFamily="18" charset="0"/>
                <a:cs typeface="Times New Roman" pitchFamily="18" charset="0"/>
              </a:rPr>
              <a:t>(Future Expansion Capability)</a:t>
            </a:r>
          </a:p>
          <a:p>
            <a:r>
              <a:rPr lang="en-US" dirty="0" smtClean="0">
                <a:latin typeface="Times New Roman" pitchFamily="18" charset="0"/>
                <a:cs typeface="Times New Roman" pitchFamily="18" charset="0"/>
              </a:rPr>
              <a:t>Designed for growth beyond a single tunnel.</a:t>
            </a:r>
          </a:p>
          <a:p>
            <a:r>
              <a:rPr lang="en-US" dirty="0" smtClean="0">
                <a:latin typeface="Times New Roman" pitchFamily="18" charset="0"/>
                <a:cs typeface="Times New Roman" pitchFamily="18" charset="0"/>
              </a:rPr>
              <a:t>Can be deployed across multiple tunnels or smart city networks </a:t>
            </a:r>
          </a:p>
          <a:p>
            <a:r>
              <a:rPr lang="en-US" dirty="0" smtClean="0">
                <a:latin typeface="Times New Roman" pitchFamily="18" charset="0"/>
                <a:cs typeface="Times New Roman" pitchFamily="18" charset="0"/>
              </a:rPr>
              <a:t>Cloud/</a:t>
            </a:r>
            <a:r>
              <a:rPr lang="en-US" dirty="0" err="1" smtClean="0">
                <a:latin typeface="Times New Roman" pitchFamily="18" charset="0"/>
                <a:cs typeface="Times New Roman" pitchFamily="18" charset="0"/>
              </a:rPr>
              <a:t>IoT</a:t>
            </a:r>
            <a:r>
              <a:rPr lang="en-US" dirty="0" smtClean="0">
                <a:latin typeface="Times New Roman" pitchFamily="18" charset="0"/>
                <a:cs typeface="Times New Roman" pitchFamily="18" charset="0"/>
              </a:rPr>
              <a:t> integration enables centralized monitoring </a:t>
            </a:r>
          </a:p>
          <a:p>
            <a:r>
              <a:rPr lang="en-US" dirty="0" smtClean="0">
                <a:latin typeface="Times New Roman" pitchFamily="18" charset="0"/>
                <a:cs typeface="Times New Roman" pitchFamily="18" charset="0"/>
              </a:rPr>
              <a:t>Modular architecture allows easy expansion </a:t>
            </a:r>
          </a:p>
          <a:p>
            <a:r>
              <a:rPr lang="en-US" b="1" dirty="0" smtClean="0">
                <a:latin typeface="Times New Roman" pitchFamily="18" charset="0"/>
                <a:cs typeface="Times New Roman" pitchFamily="18" charset="0"/>
              </a:rPr>
              <a:t>📊 Metrics:</a:t>
            </a:r>
          </a:p>
          <a:p>
            <a:r>
              <a:rPr lang="en-US" dirty="0" smtClean="0">
                <a:latin typeface="Times New Roman" pitchFamily="18" charset="0"/>
                <a:cs typeface="Times New Roman" pitchFamily="18" charset="0"/>
              </a:rPr>
              <a:t>Can scale to </a:t>
            </a:r>
            <a:r>
              <a:rPr lang="en-US" b="1" dirty="0" smtClean="0">
                <a:latin typeface="Times New Roman" pitchFamily="18" charset="0"/>
                <a:cs typeface="Times New Roman" pitchFamily="18" charset="0"/>
              </a:rPr>
              <a:t>100+ sensors and devices per network</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Supports </a:t>
            </a:r>
            <a:r>
              <a:rPr lang="en-US" b="1" dirty="0" smtClean="0">
                <a:latin typeface="Times New Roman" pitchFamily="18" charset="0"/>
                <a:cs typeface="Times New Roman" pitchFamily="18" charset="0"/>
              </a:rPr>
              <a:t>multi-location deployment with centralized control</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Data processing scalability increased by </a:t>
            </a:r>
            <a:r>
              <a:rPr lang="en-US" b="1" dirty="0" smtClean="0">
                <a:latin typeface="Times New Roman" pitchFamily="18" charset="0"/>
                <a:cs typeface="Times New Roman" pitchFamily="18" charset="0"/>
              </a:rPr>
              <a:t>~50% using cloud integration</a:t>
            </a:r>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3464" y="419168"/>
            <a:ext cx="8618706" cy="4247317"/>
          </a:xfrm>
          <a:prstGeom prst="rect">
            <a:avLst/>
          </a:prstGeom>
        </p:spPr>
        <p:txBody>
          <a:bodyPr wrap="square">
            <a:spAutoFit/>
          </a:bodyPr>
          <a:lstStyle/>
          <a:p>
            <a:r>
              <a:rPr lang="en-US" b="1" dirty="0" smtClean="0">
                <a:latin typeface="Times New Roman" pitchFamily="18" charset="0"/>
                <a:cs typeface="Times New Roman" pitchFamily="18" charset="0"/>
              </a:rPr>
              <a:t>7. Social Impact (Public Safety &amp; Well-being)</a:t>
            </a:r>
          </a:p>
          <a:p>
            <a:r>
              <a:rPr lang="en-US" dirty="0" smtClean="0">
                <a:latin typeface="Times New Roman" pitchFamily="18" charset="0"/>
                <a:cs typeface="Times New Roman" pitchFamily="18" charset="0"/>
              </a:rPr>
              <a:t>Reduced exposure to harmful gases </a:t>
            </a:r>
          </a:p>
          <a:p>
            <a:r>
              <a:rPr lang="en-US" dirty="0" smtClean="0">
                <a:latin typeface="Times New Roman" pitchFamily="18" charset="0"/>
                <a:cs typeface="Times New Roman" pitchFamily="18" charset="0"/>
              </a:rPr>
              <a:t>Improved emergency response </a:t>
            </a:r>
          </a:p>
          <a:p>
            <a:r>
              <a:rPr lang="en-US" dirty="0" smtClean="0">
                <a:latin typeface="Times New Roman" pitchFamily="18" charset="0"/>
                <a:cs typeface="Times New Roman" pitchFamily="18" charset="0"/>
              </a:rPr>
              <a:t>Safer transportation infrastructure </a:t>
            </a:r>
          </a:p>
          <a:p>
            <a:r>
              <a:rPr lang="en-US" b="1" dirty="0" smtClean="0">
                <a:latin typeface="Times New Roman" pitchFamily="18" charset="0"/>
                <a:cs typeface="Times New Roman" pitchFamily="18" charset="0"/>
              </a:rPr>
              <a:t>📊 Metrics:</a:t>
            </a:r>
          </a:p>
          <a:p>
            <a:r>
              <a:rPr lang="en-US" b="1" dirty="0" smtClean="0">
                <a:latin typeface="Times New Roman" pitchFamily="18" charset="0"/>
                <a:cs typeface="Times New Roman" pitchFamily="18" charset="0"/>
              </a:rPr>
              <a:t>20–30% reduction in health risks</a:t>
            </a:r>
            <a:r>
              <a:rPr lang="en-US" dirty="0" smtClean="0">
                <a:latin typeface="Times New Roman" pitchFamily="18" charset="0"/>
                <a:cs typeface="Times New Roman" pitchFamily="18" charset="0"/>
              </a:rPr>
              <a:t> due to improved air quality </a:t>
            </a:r>
          </a:p>
          <a:p>
            <a:r>
              <a:rPr lang="en-US" b="1" dirty="0" smtClean="0">
                <a:latin typeface="Times New Roman" pitchFamily="18" charset="0"/>
                <a:cs typeface="Times New Roman" pitchFamily="18" charset="0"/>
              </a:rPr>
              <a:t>Faster emergency response by 30–50</a:t>
            </a:r>
            <a:r>
              <a:rPr lang="en-US" b="1" dirty="0" smtClean="0">
                <a:latin typeface="Times New Roman" pitchFamily="18" charset="0"/>
                <a:cs typeface="Times New Roman" pitchFamily="18" charset="0"/>
              </a:rPr>
              <a:t>%</a:t>
            </a:r>
          </a:p>
          <a:p>
            <a:endParaRPr lang="en-US" b="1"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8. Environmental </a:t>
            </a:r>
            <a:r>
              <a:rPr lang="en-US" b="1" dirty="0" smtClean="0">
                <a:latin typeface="Times New Roman" pitchFamily="18" charset="0"/>
                <a:cs typeface="Times New Roman" pitchFamily="18" charset="0"/>
              </a:rPr>
              <a:t>Impact (Sustainability &amp; Green Infrastructure)</a:t>
            </a:r>
          </a:p>
          <a:p>
            <a:r>
              <a:rPr lang="en-US" dirty="0" smtClean="0">
                <a:latin typeface="Times New Roman" pitchFamily="18" charset="0"/>
                <a:cs typeface="Times New Roman" pitchFamily="18" charset="0"/>
              </a:rPr>
              <a:t>Reduced energy consumption lowers carbon emissions </a:t>
            </a:r>
          </a:p>
          <a:p>
            <a:r>
              <a:rPr lang="en-US" dirty="0" smtClean="0">
                <a:latin typeface="Times New Roman" pitchFamily="18" charset="0"/>
                <a:cs typeface="Times New Roman" pitchFamily="18" charset="0"/>
              </a:rPr>
              <a:t>Optimized operation minimizes energy waste </a:t>
            </a:r>
          </a:p>
          <a:p>
            <a:r>
              <a:rPr lang="en-US" b="1" dirty="0" smtClean="0">
                <a:latin typeface="Times New Roman" pitchFamily="18" charset="0"/>
                <a:cs typeface="Times New Roman" pitchFamily="18" charset="0"/>
              </a:rPr>
              <a:t>📊 Metrics:</a:t>
            </a:r>
          </a:p>
          <a:p>
            <a:r>
              <a:rPr lang="en-US" b="1" dirty="0" smtClean="0">
                <a:latin typeface="Times New Roman" pitchFamily="18" charset="0"/>
                <a:cs typeface="Times New Roman" pitchFamily="18" charset="0"/>
              </a:rPr>
              <a:t>10–25% reduction in carbon emissions</a:t>
            </a:r>
            <a:r>
              <a:rPr lang="en-US" dirty="0" smtClean="0">
                <a:latin typeface="Times New Roman" pitchFamily="18" charset="0"/>
                <a:cs typeface="Times New Roman" pitchFamily="18" charset="0"/>
              </a:rPr>
              <a:t> </a:t>
            </a:r>
          </a:p>
          <a:p>
            <a:r>
              <a:rPr lang="en-US" b="1" dirty="0" smtClean="0">
                <a:latin typeface="Times New Roman" pitchFamily="18" charset="0"/>
                <a:cs typeface="Times New Roman" pitchFamily="18" charset="0"/>
              </a:rPr>
              <a:t>15–30% decrease in energy wastage</a:t>
            </a:r>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240</TotalTime>
  <Words>1515</Words>
  <Application>Microsoft Office PowerPoint</Application>
  <PresentationFormat>Custom</PresentationFormat>
  <Paragraphs>241</Paragraphs>
  <Slides>23</Slides>
  <Notes>1</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Aswin Raaj</dc:creator>
  <cp:lastModifiedBy>Keerthanakumar</cp:lastModifiedBy>
  <cp:revision>8</cp:revision>
  <dcterms:created xsi:type="dcterms:W3CDTF">2026-04-11T14:04:14Z</dcterms:created>
  <dcterms:modified xsi:type="dcterms:W3CDTF">2026-04-11T18:13:33Z</dcterms:modified>
</cp:coreProperties>
</file>